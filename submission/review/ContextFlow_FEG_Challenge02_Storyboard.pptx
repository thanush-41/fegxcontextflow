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357f8f837d9440e" /><Relationship Type="http://schemas.openxmlformats.org/officeDocument/2006/relationships/extended-properties" Target="/docProps/app.xml" Id="Rc64940dc87e949ac" /><Relationship Type="http://schemas.openxmlformats.org/officeDocument/2006/relationships/officeDocument" Target="/ppt/presentation.xml" Id="R0c8add4af63b4e46" /></Relationships>
</file>

<file path=ppt/presentation.xml><?xml version="1.0" encoding="utf-8"?>
<p:presentation xmlns:p="http://schemas.openxmlformats.org/presentationml/2006/main">
  <p:sldMasterIdLst>
    <p:sldMasterId xmlns:r="http://schemas.openxmlformats.org/officeDocument/2006/relationships" id="2147483648" r:id="Rea4c7605d5e94bdd"/>
  </p:sldMasterIdLst>
  <p:notesMasterIdLst>
    <p:notesMasterId xmlns:r="http://schemas.openxmlformats.org/officeDocument/2006/relationships" r:id="R9cc0dd0293b34a3d"/>
  </p:notesMasterIdLst>
  <p:sldIdLst>
    <p:sldId xmlns:r="http://schemas.openxmlformats.org/officeDocument/2006/relationships" id="256" r:id="R8a65da91c6de4d07"/>
    <p:sldId xmlns:r="http://schemas.openxmlformats.org/officeDocument/2006/relationships" id="257" r:id="Rb3e3a58cfa184eb7"/>
    <p:sldId xmlns:r="http://schemas.openxmlformats.org/officeDocument/2006/relationships" id="258" r:id="Re588737b839a438f"/>
    <p:sldId xmlns:r="http://schemas.openxmlformats.org/officeDocument/2006/relationships" id="259" r:id="R0a6933996d784bfa"/>
    <p:sldId xmlns:r="http://schemas.openxmlformats.org/officeDocument/2006/relationships" id="260" r:id="Re65ed69bec4c4f31"/>
    <p:sldId xmlns:r="http://schemas.openxmlformats.org/officeDocument/2006/relationships" id="261" r:id="R247434e6948648ea"/>
    <p:sldId xmlns:r="http://schemas.openxmlformats.org/officeDocument/2006/relationships" id="262" r:id="Rc024aac5a12944b8"/>
    <p:sldId xmlns:r="http://schemas.openxmlformats.org/officeDocument/2006/relationships" id="263" r:id="R0253e09b8bd64b1f"/>
    <p:sldId xmlns:r="http://schemas.openxmlformats.org/officeDocument/2006/relationships" id="264" r:id="R6ca2c423b37c4964"/>
    <p:sldId xmlns:r="http://schemas.openxmlformats.org/officeDocument/2006/relationships" id="265" r:id="R6bce49c489a84f0c"/>
    <p:sldId xmlns:r="http://schemas.openxmlformats.org/officeDocument/2006/relationships" id="266" r:id="Rada1ed28caea48a4"/>
    <p:sldId xmlns:r="http://schemas.openxmlformats.org/officeDocument/2006/relationships" id="267" r:id="Rac2e0d118822486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468fd1b335e4bd6" /><Relationship Type="http://schemas.openxmlformats.org/officeDocument/2006/relationships/slideMaster" Target="/ppt/slideMasters/slideMaster1.xml" Id="Rea4c7605d5e94bdd" /><Relationship Type="http://schemas.openxmlformats.org/officeDocument/2006/relationships/notesMaster" Target="/ppt/notesMasters/notesMaster1.xml" Id="R9cc0dd0293b34a3d" /><Relationship Type="http://schemas.openxmlformats.org/officeDocument/2006/relationships/presProps" Target="/ppt/presProps.xml" Id="R0b889c2f76414362" /><Relationship Type="http://schemas.openxmlformats.org/officeDocument/2006/relationships/tableStyles" Target="/ppt/tableStyles.xml" Id="R21557519be2c46bb" /><Relationship Type="http://schemas.openxmlformats.org/officeDocument/2006/relationships/slide" Target="/ppt/slides/slide1.xml" Id="R8a65da91c6de4d07" /><Relationship Type="http://schemas.openxmlformats.org/officeDocument/2006/relationships/slide" Target="/ppt/slides/slide2.xml" Id="Rb3e3a58cfa184eb7" /><Relationship Type="http://schemas.openxmlformats.org/officeDocument/2006/relationships/slide" Target="/ppt/slides/slide3.xml" Id="Re588737b839a438f" /><Relationship Type="http://schemas.openxmlformats.org/officeDocument/2006/relationships/slide" Target="/ppt/slides/slide4.xml" Id="R0a6933996d784bfa" /><Relationship Type="http://schemas.openxmlformats.org/officeDocument/2006/relationships/slide" Target="/ppt/slides/slide5.xml" Id="Re65ed69bec4c4f31" /><Relationship Type="http://schemas.openxmlformats.org/officeDocument/2006/relationships/slide" Target="/ppt/slides/slide6.xml" Id="R247434e6948648ea" /><Relationship Type="http://schemas.openxmlformats.org/officeDocument/2006/relationships/slide" Target="/ppt/slides/slide7.xml" Id="Rc024aac5a12944b8" /><Relationship Type="http://schemas.openxmlformats.org/officeDocument/2006/relationships/slide" Target="/ppt/slides/slide8.xml" Id="R0253e09b8bd64b1f" /><Relationship Type="http://schemas.openxmlformats.org/officeDocument/2006/relationships/slide" Target="/ppt/slides/slide9.xml" Id="R6ca2c423b37c4964" /><Relationship Type="http://schemas.openxmlformats.org/officeDocument/2006/relationships/slide" Target="/ppt/slides/slide10.xml" Id="R6bce49c489a84f0c" /><Relationship Type="http://schemas.openxmlformats.org/officeDocument/2006/relationships/slide" Target="/ppt/slides/slide11.xml" Id="Rada1ed28caea48a4" /><Relationship Type="http://schemas.openxmlformats.org/officeDocument/2006/relationships/slide" Target="/ppt/slides/slide12.xml" Id="Rac2e0d118822486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1f5e8c9709241f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900c7046d654e1f" /><Relationship Type="http://schemas.openxmlformats.org/officeDocument/2006/relationships/notesMaster" Target="/ppt/notesMasters/notesMaster1.xml" Id="Rf5631ab5e45844f3" /></Relationships>
</file>

<file path=ppt/notesSlides/_rels/notesSlide2.xml.rels>&#65279;<?xml version="1.0" encoding="utf-8"?><Relationships xmlns="http://schemas.openxmlformats.org/package/2006/relationships"><Relationship Type="http://schemas.openxmlformats.org/officeDocument/2006/relationships/slide" Target="/ppt/slides/slide2.xml" Id="R81eb95eb93f3455e" /><Relationship Type="http://schemas.openxmlformats.org/officeDocument/2006/relationships/notesMaster" Target="/ppt/notesMasters/notesMaster1.xml" Id="Ra6e87d2f7be34fc4" /></Relationships>
</file>

<file path=ppt/notesSlides/_rels/notesSlide3.xml.rels>&#65279;<?xml version="1.0" encoding="utf-8"?><Relationships xmlns="http://schemas.openxmlformats.org/package/2006/relationships"><Relationship Type="http://schemas.openxmlformats.org/officeDocument/2006/relationships/slide" Target="/ppt/slides/slide3.xml" Id="Rd1547d30ea864f15" /><Relationship Type="http://schemas.openxmlformats.org/officeDocument/2006/relationships/notesMaster" Target="/ppt/notesMasters/notesMaster1.xml" Id="Rb5ea473d23b641a0" /></Relationships>
</file>

<file path=ppt/notesSlides/_rels/notesSlide4.xml.rels>&#65279;<?xml version="1.0" encoding="utf-8"?><Relationships xmlns="http://schemas.openxmlformats.org/package/2006/relationships"><Relationship Type="http://schemas.openxmlformats.org/officeDocument/2006/relationships/slide" Target="/ppt/slides/slide4.xml" Id="R91641b2c62a84116" /><Relationship Type="http://schemas.openxmlformats.org/officeDocument/2006/relationships/notesMaster" Target="/ppt/notesMasters/notesMaster1.xml" Id="Rd289f02e9fc04793" /></Relationships>
</file>

<file path=ppt/notesSlides/_rels/notesSlide5.xml.rels>&#65279;<?xml version="1.0" encoding="utf-8"?><Relationships xmlns="http://schemas.openxmlformats.org/package/2006/relationships"><Relationship Type="http://schemas.openxmlformats.org/officeDocument/2006/relationships/slide" Target="/ppt/slides/slide5.xml" Id="Re663e245075c4f6b" /><Relationship Type="http://schemas.openxmlformats.org/officeDocument/2006/relationships/notesMaster" Target="/ppt/notesMasters/notesMaster1.xml" Id="R3660affae8a04c39" /></Relationships>
</file>

<file path=ppt/notesSlides/_rels/notesSlide6.xml.rels>&#65279;<?xml version="1.0" encoding="utf-8"?><Relationships xmlns="http://schemas.openxmlformats.org/package/2006/relationships"><Relationship Type="http://schemas.openxmlformats.org/officeDocument/2006/relationships/slide" Target="/ppt/slides/slide6.xml" Id="Rb675e2addcea48ea" /><Relationship Type="http://schemas.openxmlformats.org/officeDocument/2006/relationships/notesMaster" Target="/ppt/notesMasters/notesMaster1.xml" Id="R407ff2c5c0f24af5" /></Relationships>
</file>

<file path=ppt/notesSlides/_rels/notesSlide7.xml.rels>&#65279;<?xml version="1.0" encoding="utf-8"?><Relationships xmlns="http://schemas.openxmlformats.org/package/2006/relationships"><Relationship Type="http://schemas.openxmlformats.org/officeDocument/2006/relationships/slide" Target="/ppt/slides/slide7.xml" Id="R99f93ec7a4654b0e" /><Relationship Type="http://schemas.openxmlformats.org/officeDocument/2006/relationships/notesMaster" Target="/ppt/notesMasters/notesMaster1.xml" Id="R5b7caf80e827499b" /></Relationships>
</file>

<file path=ppt/notesSlides/_rels/notesSlide8.xml.rels>&#65279;<?xml version="1.0" encoding="utf-8"?><Relationships xmlns="http://schemas.openxmlformats.org/package/2006/relationships"><Relationship Type="http://schemas.openxmlformats.org/officeDocument/2006/relationships/slide" Target="/ppt/slides/slide8.xml" Id="R4d97d16990c6440d" /><Relationship Type="http://schemas.openxmlformats.org/officeDocument/2006/relationships/notesMaster" Target="/ppt/notesMasters/notesMaster1.xml" Id="Rd3a556f2cc5f41ff" /></Relationships>
</file>

<file path=ppt/notesSlides/_rels/notesSlide9.xml.rels>&#65279;<?xml version="1.0" encoding="utf-8"?><Relationships xmlns="http://schemas.openxmlformats.org/package/2006/relationships"><Relationship Type="http://schemas.openxmlformats.org/officeDocument/2006/relationships/slide" Target="/ppt/slides/slide9.xml" Id="R8c5fe30859de4e88" /><Relationship Type="http://schemas.openxmlformats.org/officeDocument/2006/relationships/notesMaster" Target="/ppt/notesMasters/notesMaster1.xml" Id="R54e5fcc659da406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06904ab90494422" /><Relationship Type="http://schemas.openxmlformats.org/officeDocument/2006/relationships/notesMaster" Target="/ppt/notesMasters/notesMaster1.xml" Id="R929e18666a304f2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01d768a2ef943d4" /><Relationship Type="http://schemas.openxmlformats.org/officeDocument/2006/relationships/notesMaster" Target="/ppt/notesMasters/notesMaster1.xml" Id="Ra78a76c86cb44cd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b80d722542c4a1a" /><Relationship Type="http://schemas.openxmlformats.org/officeDocument/2006/relationships/notesMaster" Target="/ppt/notesMasters/notesMaster1.xml" Id="Rffb1c8da06d141d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1 · Your context. In action. · 0:00–0:12</a:t>
            </a:r>
          </a:p>
          <a:p xmlns:a="http://schemas.openxmlformats.org/drawingml/2006/main">
            <a:r>
              <a:t/>
            </a:r>
          </a:p>
          <a:p xmlns:a="http://schemas.openxmlformats.org/drawingml/2006/main">
            <a:r>
              <a:t>**Audience takeaway:** an instruction changes a persistent task. **Visual:** large actual app result beside the short title; use S01 only as an opening/closing surround. **Live action:** with the prepared one-selection task and warm microphone, say “Change that to five.” Hold until the exact 5.00 state is visible. **Narration after the result:** “That is the same task, continued in my own words.” **Validation:** the current captured follow-up is typed in a native voice session; the opening’s human-spoken evidence is still required. Do not label that capture a completed spoken test.</a:t>
            </a:r>
          </a:p>
          <a:p xmlns:a="http://schemas.openxmlformats.org/drawingml/2006/main">
            <a:r>
              <a:t/>
            </a:r>
          </a:p>
          <a:p xmlns:a="http://schemas.openxmlformats.org/drawingml/2006/main">
            <a:r>
              <a:t/>
            </a:r>
          </a:p>
          <a:p xmlns:a="http://schemas.openxmlformats.org/drawingml/2006/main">
            <a:r>
              <a:t>Background is generated staging with a blank phone screen. Do not mistake it for evidence. Live demo result will replace the blank screen at showtime.</a:t>
            </a:r>
          </a:p>
          <a:p xmlns:a="http://schemas.openxmlformats.org/drawingml/2006/main">
            <a:r>
              <a:t>Review edition: human recording, motion selection and target PowerPoint playback are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2 · The gap between sessions · 0:12–0:35</a:t>
            </a:r>
          </a:p>
          <a:p xmlns:a="http://schemas.openxmlformats.org/drawingml/2006/main">
            <a:r>
              <a:t/>
            </a:r>
          </a:p>
          <a:p xmlns:a="http://schemas.openxmlformats.org/drawingml/2006/main">
            <a:r>
              <a:t>**Audience takeaway:** relevant research loses usefulness when the next surface forgets the task. **Visual:** three clear positions — research, app, home screen — with the same fictional event appearing only where it actually exists. Animate loss of continuity with a gap, not a fabricated error screen. **Narration:** “Research starts in one place. The action happens in another. Later, the home screen has no useful continuation. Challenge 02 asks for a reason to return. Our answer is to carry the task the user already chose, with enough context to continue it.” **Source:** FEG Challenge 02. No market-size or behavioral-causation claim.</a:t>
            </a:r>
          </a:p>
          <a:p xmlns:a="http://schemas.openxmlformats.org/drawingml/2006/main">
            <a:r>
              <a:t/>
            </a:r>
          </a:p>
          <a:p xmlns:a="http://schemas.openxmlformats.org/drawingml/2006/main">
            <a:r>
              <a:t/>
            </a:r>
          </a:p>
          <a:p xmlns:a="http://schemas.openxmlformats.org/drawingml/2006/main">
            <a:r>
              <a:t>Source: https://feg-hackathon-challenges.edgeone.dev/</a:t>
            </a:r>
          </a:p>
          <a:p xmlns:a="http://schemas.openxmlformats.org/drawingml/2006/main">
            <a:r>
              <a:t>Review edition: human recording, motion selection and target PowerPoint playback are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3 · A task beyond the app · 0:35–1:55</a:t>
            </a:r>
          </a:p>
          <a:p xmlns:a="http://schemas.openxmlformats.org/drawingml/2006/main">
            <a:r>
              <a:t/>
            </a:r>
          </a:p>
          <a:p xmlns:a="http://schemas.openxmlformats.org/drawingml/2006/main">
            <a:r>
              <a:t>**Audience takeaway:** one task survives research import, voice, review and a native surface. **Visual:** the intact 80-second native recording, with restrained S02/S03/S04 surrounds at its boundaries. The main app view occupies at least 65% of slide height; enlarge exact review and receipt details in separate deterministic overlays drawn from the same frame. **Narration:** “This is a fictional match. The research is background; the instruction is mine. I choose the outcome, change the stake, inspect the review, and confirm the exact action. The saved task then remains useful outside the app.” Pause for the actual interaction. **Evidence:** native sample-data capture; final human-spoken run pending. Never imply independent AI recommendations or a real-money placement.</a:t>
            </a:r>
          </a:p>
          <a:p xmlns:a="http://schemas.openxmlformats.org/drawingml/2006/main">
            <a:r>
              <a:t/>
            </a:r>
          </a:p>
          <a:p xmlns:a="http://schemas.openxmlformats.org/drawingml/2006/main">
            <a:r>
              <a:t/>
            </a:r>
          </a:p>
          <a:p xmlns:a="http://schemas.openxmlformats.org/drawingml/2006/main">
            <a:r>
              <a:t>Current image is a physical iPhone capture of a typed instruction in a native Azure voice session. The microphone is visibly muted. The updated source/instruction card and exact touch review/receipt are captured. This typed QA take is not evidence of human speech. Capture three consecutive human-spoken takes. Slide 3 media target is 80 seconds.</a:t>
            </a:r>
          </a:p>
          <a:p xmlns:a="http://schemas.openxmlformats.org/drawingml/2006/main">
            <a:r>
              <a:t>Review edition: human recording, motion selection and target PowerPoint playback are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4 · Designed to fit an operator · 1:55–2:25</a:t>
            </a:r>
          </a:p>
          <a:p xmlns:a="http://schemas.openxmlformats.org/drawingml/2006/main">
            <a:r>
              <a:t/>
            </a:r>
          </a:p>
          <a:p xmlns:a="http://schemas.openxmlformats.org/drawingml/2006/main">
            <a:r>
              <a:t>**Audience takeaway:** the operator retains control over actions and eligibility. **Visual:** editable horizontal diagram: external research → versioned task → shared action handler → operator adapters / native surfaces. Show consent and eligibility checks alongside the handler, and a separate explicit-confirmation step before receipt. **Narration:** “The reusable part is the context layer. Touch, voice and handoffs use the same action handler and the same review. An operator can connect its own event catalogue, identity, exclusion and receipt systems through adapters. This build demonstrates the pattern with sample records. Production connections are a separate integration project.” **Evidence:** shared contracts, SQLite/Edge action engine and atomic receipt tests. Do not show the operator integrations as implemented.</a:t>
            </a:r>
          </a:p>
          <a:p xmlns:a="http://schemas.openxmlformats.org/drawingml/2006/main">
            <a:r>
              <a:t/>
            </a:r>
          </a:p>
          <a:p xmlns:a="http://schemas.openxmlformats.org/drawingml/2006/main">
            <a:r>
              <a:t/>
            </a:r>
          </a:p>
          <a:p xmlns:a="http://schemas.openxmlformats.org/drawingml/2006/main">
            <a:r>
              <a:t>Implemented: server/src/actions.ts, shared/contracts.ts, shared/safeguards.ts and the generated Edge bundle. Production identity, exclusion and operator adapters remain outside the hackathon build.</a:t>
            </a:r>
          </a:p>
          <a:p xmlns:a="http://schemas.openxmlformats.org/drawingml/2006/main">
            <a:r>
              <a:t>Review edition: human recording, motion selection and target PowerPoint playback are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5 · What success looks like · 2:25–3:00</a:t>
            </a:r>
          </a:p>
          <a:p xmlns:a="http://schemas.openxmlformats.org/drawingml/2006/main">
            <a:r>
              <a:t/>
            </a:r>
          </a:p>
          <a:p xmlns:a="http://schemas.openxmlformats.org/drawingml/2006/main">
            <a:r>
              <a:t>**Audience takeaway:** useful engagement is measurable without rewarding pressure to bet. **Visual:** four large measures: useful app opens; widget adoption; surface engagement; notification opt-in retention. Small but readable companion line: task completion, off-app completion, opt-outs and harmful-play indicators. **Narration:** “We propose 1,000 participants, split equally between control and treatment, with 30 days of exposure and later retention follow-up. We measure useful opens, widget adoption, surface engagement and retained consent. A successful glance outside the app counts separately. We also watch task failures, opt-outs and harmful-play indicators. A rise in opens alone is not the success criterion.” **Evidence:** pilot proposal, not results. Existing FEG betting-session tables do not establish these baselines.</a:t>
            </a:r>
          </a:p>
          <a:p xmlns:a="http://schemas.openxmlformats.org/drawingml/2006/main">
            <a:r>
              <a:t/>
            </a:r>
          </a:p>
          <a:p xmlns:a="http://schemas.openxmlformats.org/drawingml/2006/main">
            <a:r>
              <a:t/>
            </a:r>
          </a:p>
          <a:p xmlns:a="http://schemas.openxmlformats.org/drawingml/2006/main">
            <a:r>
              <a:t>Source: https://feg-hackathon-challenges.edgeone.dev/</a:t>
            </a:r>
          </a:p>
          <a:p xmlns:a="http://schemas.openxmlformats.org/drawingml/2006/main">
            <a:r>
              <a:t>Pre-register useful-open definition: a deliberate foreground open followed by a selected meaningful activity within two minutes, excluding auto-launches. Analyze randomized arms; adoption is a secondary treatment metric. Instrumentation and baseline rates are not yet available. Do not infer these metrics from the supplied betting-session workbook.</a:t>
            </a:r>
          </a:p>
          <a:p xmlns:a="http://schemas.openxmlformats.org/drawingml/2006/main">
            <a:r>
              <a:t>Review edition: human recording, motion selection and target PowerPoint playback are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6 · The value and the cost · 3:00–3:55</a:t>
            </a:r>
          </a:p>
          <a:p xmlns:a="http://schemas.openxmlformats.org/drawingml/2006/main">
            <a:r>
              <a:t/>
            </a:r>
          </a:p>
          <a:p xmlns:a="http://schemas.openxmlformats.org/drawingml/2006/main">
            <a:r>
              <a:t>**Audience takeaway:** the pilot must prove enough contribution to cover integration and ongoing cost. **Visual:** editable three-column adoption comparison, with the 20% case emphasized. Show 50/100/150 adopters, approximately €201/€258/€314 monthly operating cost and required contribution of €3.03/€1.58/€1.09 per adopter after assumed support savings. Separate €9,120 illustrative upfront effort. **Narration:** “At twenty percent treatment adoption, we model one hundred adopters and four hundred voice tasks a month. The illustrative operating cost is about two hundred and fifty-eight euros, including voice, transcription, infrastructure, notifications and support. After assumed support savings, the monthly break-even contribution is one euro fifty-eight per adopter. Integration and assurance add nine thousand one hundred and twenty euros in this scenario. Low adoption does not pay back. Usage, negotiated prices and identity-service quotes still need validation; this pilot is designed to resolve them.” **Evidence:** impact workbook. No precision beyond supported assumptions; no short-payback promise.</a:t>
            </a:r>
          </a:p>
          <a:p xmlns:a="http://schemas.openxmlformats.org/drawingml/2006/main">
            <a:r>
              <a:t/>
            </a:r>
          </a:p>
          <a:p xmlns:a="http://schemas.openxmlformats.org/drawingml/2006/main">
            <a:r>
              <a:t/>
            </a:r>
          </a:p>
          <a:p xmlns:a="http://schemas.openxmlformats.org/drawingml/2006/main">
            <a:r>
              <a:t>Sources: https://azure.microsoft.com/en-us/pricing/details/azure-openai/</a:t>
            </a:r>
          </a:p>
          <a:p xmlns:a="http://schemas.openxmlformats.org/drawingml/2006/main">
            <a:r>
              <a:t>https://www.ecb.europa.eu/stats/policy_and_exchange_rates/euro_reference_exchange_rates/html/index.en.html</a:t>
            </a:r>
          </a:p>
          <a:p xmlns:a="http://schemas.openxmlformats.org/drawingml/2006/main">
            <a:r>
              <a:t>Linked model: ContextFlow_Impact_Model.xlsx. Actual monthly costs 201.287248 / 257.574496 / 313.861744 EUR. Assumptions: 3 EUR incremental contribution and 1 EUR avoided support cost per adopter. Operating net -1.287248 / 142.425504 / 286.138256 EUR. Upfront engineering 80h x75, legal/privacy24h x90, accessibility16h x60 =9120 EUR. No voice usage record establishes the token assumptions; SKU and contract need confirmation.</a:t>
            </a:r>
          </a:p>
          <a:p xmlns:a="http://schemas.openxmlformats.org/drawingml/2006/main">
            <a:r>
              <a:t>Review edition: human recording, motion selection and target PowerPoint playback are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7 · Control stays with the user · 3:55–4:35</a:t>
            </a:r>
          </a:p>
          <a:p xmlns:a="http://schemas.openxmlformats.org/drawingml/2006/main">
            <a:r>
              <a:t/>
            </a:r>
          </a:p>
          <a:p xmlns:a="http://schemas.openxmlformats.org/drawingml/2006/main">
            <a:r>
              <a:t>**Audience takeaway:** relevance requires permission and protected decisions. **Visual:** actual optional-consent screen, a visible suppression reason and exact-review detail, revealed in sequence. **Narration:** “Optional alerts start off. The demo uses device-local quiet hours from ten at night to eight in the morning, a daily cap of three, and at least an hour between alerts. These are proposed defaults. Synthetic adult, unverified, underage, at-risk and excluded records demonstrate the eligibility check. Voice cannot override them. Requested safety reminders and microphone controls remain available. A change to the slip invalidates its review.” **Evidence:** guardrail tests, real settings screenshots and native delivery code. Real register integration, accessibility audit and legal review remain production dependencies.</a:t>
            </a:r>
          </a:p>
          <a:p xmlns:a="http://schemas.openxmlformats.org/drawingml/2006/main">
            <a:r>
              <a:t/>
            </a:r>
          </a:p>
          <a:p xmlns:a="http://schemas.openxmlformats.org/drawingml/2006/main">
            <a:r>
              <a:t/>
            </a:r>
          </a:p>
          <a:p xmlns:a="http://schemas.openxmlformats.org/drawingml/2006/main">
            <a:r>
              <a:t>Source: https://drive.google.com/file/d/1RUkxHqNRv1y3sAYB_nKPDbI7ahfKZheH/view</a:t>
            </a:r>
          </a:p>
          <a:p xmlns:a="http://schemas.openxmlformats.org/drawingml/2006/main">
            <a:r>
              <a:t>Screenshot: Android emulator, not physical Android. Backend tests cover withdrawal, quiet hours, caps, duplicate and stale suppression, restricted profiles and attempted overrides. Requested safety reminders and essential microphone controls remain available. No legal compliance certification or real identity verification is claimed.</a:t>
            </a:r>
          </a:p>
          <a:p xmlns:a="http://schemas.openxmlformats.org/drawingml/2006/main">
            <a:r>
              <a:t>Review edition: human recording, motion selection and target PowerPoint playback are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8 · The next screens · 4:35–5:00</a:t>
            </a:r>
          </a:p>
          <a:p xmlns:a="http://schemas.openxmlformats.org/drawingml/2006/main">
            <a:r>
              <a:t/>
            </a:r>
          </a:p>
          <a:p xmlns:a="http://schemas.openxmlformats.org/drawingml/2006/main">
            <a:r>
              <a:t>**Audience takeaway:** a bounded pilot can test a reusable native-context layer. **Visual:** S05 Watch concept for 6 seconds; S06 Mac concept for 6 seconds; finish on the pilot ask for 13 seconds. Persistent readable “CONCEPT — not built” labels on both sequences. **Narration:** “Watch and Mac are the next concepts: the same chosen task, adapted to a smaller glance or a larger workspace. Our ask is a thirty-day FEG pilot, an integration owner and agreed measures of usefulness, cost and control. Let the user’s context become their reason to return.”</a:t>
            </a:r>
          </a:p>
          <a:p xmlns:a="http://schemas.openxmlformats.org/drawingml/2006/main">
            <a:r>
              <a:t/>
            </a:r>
          </a:p>
          <a:p xmlns:a="http://schemas.openxmlformats.org/drawingml/2006/main">
            <a:r>
              <a:t/>
            </a:r>
          </a:p>
          <a:p xmlns:a="http://schemas.openxmlformats.org/drawingml/2006/main">
            <a:r>
              <a:t>Both visuals are generated future-concept plates, with no working Watch or Mac app. Final animation needs persistent concept labels and exact separately composited UI.</a:t>
            </a:r>
          </a:p>
          <a:p xmlns:a="http://schemas.openxmlformats.org/drawingml/2006/main">
            <a:r>
              <a:t>Review edition: human recording, motion selection and target PowerPoint playback are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evidence: submission/working/server-tests-current.txt, submission/working/mobile-tests-current.txt and current FEG capture bundle. 34 backend and 29 mobile tests passed at this checkpoint. Current Android Release and iPhone QA Release builds passed. Edge version14 contains the current sample-only action engine. A physical-iPhone typed QA journey passed through source import, five-credit change, touch review/confirmation and consent suppression. Receipt CF-87867C8E: stake5.00, return9.25. Human speech, lock-screen lifecycle and accessibility remain open.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Published sources checked 9 September 2026: https://www.fanduel.com/about/news/meet-aceai-fanduel-s-ai-powered-sports-betting-assistant</a:t>
            </a:r>
          </a:p>
          <a:p xmlns:a="http://schemas.openxmlformats.org/drawingml/2006/main">
            <a:r>
              <a:t>https://symphony-solutions.com/voice-to-voice-ai</a:t>
            </a:r>
          </a:p>
          <a:p xmlns:a="http://schemas.openxmlformats.org/drawingml/2006/main">
            <a:r>
              <a:t>FanDuel describes conversational research, context and slip building. BetHarmony describes voice-to-voice, context and operator API actions. Do not claim voice alone is unique or infer absent capabilities from missing public evidence. ContextFlow has no claimed world-first status.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editable impact workbook; Azure rates https://azure.microsoft.com/en-us/pricing/details/azure-openai/ and ECB https://www.ecb.europa.eu/stats/policy_and_exchange_rates/euro_reference_exchange_rates/html/index.en.html. Formula: adopters x contribution + avoided support cost - operating cost. Payback only exists with positive monthly net and assumes a sustained flat run rate. Historical FEG betting sessions are separate from front-end sessions. Source https://docs.google.com/spreadsheets/d/1OQZ9dEyS6wmXjZeumU-6lsewlswNXg-p/edit. hr March555211 versus August447046 betting sessions: -19.5%, descriptive only. No attribution to ContextFlow or baseline for app opens.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ContextFlow_Prompt_Pack.md for the complete screen recording script. Keep the original native video intact. Failure resets the consecutive human-run count. Verify microphone permission, device-local time, exact sample profile, event, stake, odds and receipt. Disable unrelated notifications for the recording. PowerPoint is not installed in this environment: actual offline playback, embedded media, audio, poster frames and presenter view remain explicit gates.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758a14d94c94a0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1f9a348994242ab" /><Relationship Type="http://schemas.openxmlformats.org/officeDocument/2006/relationships/slideLayout" Target="/ppt/slideLayouts/slideLayout1.xml" Id="R943735079eda439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43735079eda439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7b8defe3269469f" /><Relationship Type="http://schemas.openxmlformats.org/officeDocument/2006/relationships/image" Target="/ppt/media/image.png" Id="Rd394b58494ac4520" /><Relationship Type="http://schemas.openxmlformats.org/officeDocument/2006/relationships/notesSlide" Target="/ppt/notesSlides/notesSlide1.xml" Id="R5726741a44dd434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b07d113f20b4a2b" /><Relationship Type="http://schemas.openxmlformats.org/officeDocument/2006/relationships/notesSlide" Target="/ppt/notesSlides/notesSlide2.xml" Id="Rea9c0c285c044f9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c28da538334475f" /><Relationship Type="http://schemas.openxmlformats.org/officeDocument/2006/relationships/image" Target="/ppt/media/image2.png" Id="R449dfd17bd594d56" /><Relationship Type="http://schemas.openxmlformats.org/officeDocument/2006/relationships/notesSlide" Target="/ppt/notesSlides/notesSlide3.xml" Id="R382db58c11204db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31e3ef7f6ed4c50" /><Relationship Type="http://schemas.openxmlformats.org/officeDocument/2006/relationships/notesSlide" Target="/ppt/notesSlides/notesSlide4.xml" Id="R41b4fdd2652d4ce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2f9430a025e449d" /><Relationship Type="http://schemas.openxmlformats.org/officeDocument/2006/relationships/notesSlide" Target="/ppt/notesSlides/notesSlide5.xml" Id="R31f26ca872734ee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d5efab79d8f4b2c" /><Relationship Type="http://schemas.openxmlformats.org/officeDocument/2006/relationships/notesSlide" Target="/ppt/notesSlides/notesSlide6.xml" Id="Rbc642aa0079247d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a7d8291b5f94ce1" /><Relationship Type="http://schemas.openxmlformats.org/officeDocument/2006/relationships/image" Target="/ppt/media/image3.png" Id="Rd60ec7011272426f" /><Relationship Type="http://schemas.openxmlformats.org/officeDocument/2006/relationships/notesSlide" Target="/ppt/notesSlides/notesSlide7.xml" Id="R3e76edfa737c4fc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deb04512ab842dc" /><Relationship Type="http://schemas.openxmlformats.org/officeDocument/2006/relationships/image" Target="/ppt/media/image4.png" Id="R6a338c02cbe749f2" /><Relationship Type="http://schemas.openxmlformats.org/officeDocument/2006/relationships/image" Target="/ppt/media/image5.png" Id="R5b670bc67c864822" /><Relationship Type="http://schemas.openxmlformats.org/officeDocument/2006/relationships/notesSlide" Target="/ppt/notesSlides/notesSlide8.xml" Id="Rd0de46638424471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ebc04f1ee704edb" /><Relationship Type="http://schemas.openxmlformats.org/officeDocument/2006/relationships/notesSlide" Target="/ppt/notesSlides/notesSlide9.xml" Id="R49cfceea66314bf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b64cf4c90054ba7" /><Relationship Type="http://schemas.openxmlformats.org/officeDocument/2006/relationships/notesSlide" Target="/ppt/notesSlides/notesSlide10.xml" Id="Rcbbdb59527bd497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8c218f40a1f4ce9" /><Relationship Type="http://schemas.openxmlformats.org/officeDocument/2006/relationships/notesSlide" Target="/ppt/notesSlides/notesSlide11.xml" Id="Rc88c3683f748442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4bf1a1add144184" /><Relationship Type="http://schemas.openxmlformats.org/officeDocument/2006/relationships/notesSlide" Target="/ppt/notesSlides/notesSlide12.xml" Id="Rb7f18d92953043b1" /></Relationships>
</file>

<file path=ppt/slides/slide1.xml><?xml version="1.0" encoding="utf-8"?>
<p:sld xmlns:p="http://schemas.openxmlformats.org/presentationml/2006/main">
  <p:cSld>
    <p:bg>
      <p:bgPr>
        <a:solidFill xmlns:a="http://schemas.openxmlformats.org/drawingml/2006/main">
          <a:srgbClr val="10151E"/>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d394b58494ac4520"/>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9FAA3F1-075C-448C-8B86-2ED435499BBE}"/>
              </a:ext>
            </a:extLst>
          </p:cNvPr>
          <p:cNvSpPr>
            <a:spLocks xmlns:a="http://schemas.openxmlformats.org/drawingml/2006/main" noGrp="1"/>
          </p:cNvSpPr>
          <p:nvPr/>
        </p:nvSpPr>
        <p:spPr>
          <a:xfrm xmlns:a="http://schemas.openxmlformats.org/drawingml/2006/main">
            <a:off x="628650" y="1028700"/>
            <a:ext cx="69532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F3F6FC"/>
                </a:solidFill>
                <a:latin typeface="Arial"/>
                <a:ea typeface="Arial"/>
                <a:cs typeface="Arial"/>
              </a:defRPr>
            </a:pPr>
            <a:r>
              <a:rPr sz="4800" b="1">
                <a:solidFill>
                  <a:srgbClr val="F3F6FC"/>
                </a:solidFill>
                <a:latin typeface="Arial"/>
                <a:ea typeface="Arial"/>
                <a:cs typeface="Arial"/>
              </a:rPr>
              <a:t>Your context.</a:t>
            </a:r>
          </a:p>
          <a:p xmlns:a="http://schemas.openxmlformats.org/drawingml/2006/main">
            <a:pPr>
              <a:defRPr sz="4800" b="1">
                <a:solidFill>
                  <a:srgbClr val="F3F6FC"/>
                </a:solidFill>
                <a:latin typeface="Arial"/>
                <a:ea typeface="Arial"/>
                <a:cs typeface="Arial"/>
              </a:defRPr>
            </a:pPr>
            <a:r>
              <a:rPr sz="4800" b="1">
                <a:solidFill>
                  <a:srgbClr val="F3F6FC"/>
                </a:solidFill>
                <a:latin typeface="Arial"/>
                <a:ea typeface="Arial"/>
                <a:cs typeface="Arial"/>
              </a:rPr>
              <a:t>In action.</a:t>
            </a:r>
          </a:p>
        </p:txBody>
      </p:sp>
      <p:sp>
        <p:nvSpPr>
          <p:cNvPr id="3" name="">
            <a:extLst xmlns:a="http://schemas.openxmlformats.org/drawingml/2006/main">
              <a:ext uri="{FF2B5EF4-FFF2-40B4-BE49-F238E27FC236}">
                <a16:creationId xmlns:a16="http://schemas.microsoft.com/office/drawing/2014/main" id="{9C1062EA-CBF8-40F9-BF10-A9B86DD8342C}"/>
              </a:ext>
            </a:extLst>
          </p:cNvPr>
          <p:cNvSpPr>
            <a:spLocks xmlns:a="http://schemas.openxmlformats.org/drawingml/2006/main" noGrp="1"/>
          </p:cNvSpPr>
          <p:nvPr/>
        </p:nvSpPr>
        <p:spPr>
          <a:xfrm xmlns:a="http://schemas.openxmlformats.org/drawingml/2006/main">
            <a:off x="657225" y="2924175"/>
            <a:ext cx="619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91BAFF"/>
                </a:solidFill>
                <a:latin typeface="Arial"/>
                <a:ea typeface="Arial"/>
                <a:cs typeface="Arial"/>
              </a:defRPr>
            </a:pPr>
            <a:r>
              <a:rPr sz="2550" b="0">
                <a:solidFill>
                  <a:srgbClr val="91BAFF"/>
                </a:solidFill>
                <a:latin typeface="Arial"/>
                <a:ea typeface="Arial"/>
                <a:cs typeface="Arial"/>
              </a:rPr>
              <a:t>“Change that to five.”</a:t>
            </a:r>
          </a:p>
        </p:txBody>
      </p:sp>
      <p:sp>
        <p:nvSpPr>
          <p:cNvPr id="4" name="">
            <a:extLst xmlns:a="http://schemas.openxmlformats.org/drawingml/2006/main">
              <a:ext uri="{FF2B5EF4-FFF2-40B4-BE49-F238E27FC236}">
                <a16:creationId xmlns:a16="http://schemas.microsoft.com/office/drawing/2014/main" id="{B61A80F1-6454-4BA5-9BD1-29DD0947C01E}"/>
              </a:ext>
            </a:extLst>
          </p:cNvPr>
          <p:cNvSpPr>
            <a:spLocks xmlns:a="http://schemas.openxmlformats.org/drawingml/2006/main" noGrp="1"/>
          </p:cNvSpPr>
          <p:nvPr/>
        </p:nvSpPr>
        <p:spPr>
          <a:xfrm xmlns:a="http://schemas.openxmlformats.org/drawingml/2006/main">
            <a:off x="657225" y="3952875"/>
            <a:ext cx="552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3F6FC"/>
                </a:solidFill>
                <a:latin typeface="Arial"/>
                <a:ea typeface="Arial"/>
                <a:cs typeface="Arial"/>
              </a:defRPr>
            </a:pPr>
            <a:r>
              <a:rPr sz="2550" b="0">
                <a:solidFill>
                  <a:srgbClr val="F3F6FC"/>
                </a:solidFill>
                <a:latin typeface="Arial"/>
                <a:ea typeface="Arial"/>
                <a:cs typeface="Arial"/>
              </a:rPr>
              <a:t>One chosen task.</a:t>
            </a:r>
          </a:p>
          <a:p xmlns:a="http://schemas.openxmlformats.org/drawingml/2006/main">
            <a:pPr>
              <a:defRPr sz="2550" b="0">
                <a:solidFill>
                  <a:srgbClr val="F3F6FC"/>
                </a:solidFill>
                <a:latin typeface="Arial"/>
                <a:ea typeface="Arial"/>
                <a:cs typeface="Arial"/>
              </a:defRPr>
            </a:pPr>
            <a:r>
              <a:rPr sz="2550" b="0">
                <a:solidFill>
                  <a:srgbClr val="F3F6FC"/>
                </a:solidFill>
                <a:latin typeface="Arial"/>
                <a:ea typeface="Arial"/>
                <a:cs typeface="Arial"/>
              </a:rPr>
              <a:t>Ready to continue.</a:t>
            </a:r>
          </a:p>
        </p:txBody>
      </p:sp>
      <p:sp>
        <p:nvSpPr>
          <p:cNvPr id="5" name="">
            <a:extLst xmlns:a="http://schemas.openxmlformats.org/drawingml/2006/main">
              <a:ext uri="{FF2B5EF4-FFF2-40B4-BE49-F238E27FC236}">
                <a16:creationId xmlns:a16="http://schemas.microsoft.com/office/drawing/2014/main" id="{F23A66B9-00F2-47CC-8DBB-7925E3B73125}"/>
              </a:ext>
            </a:extLst>
          </p:cNvPr>
          <p:cNvSpPr>
            <a:spLocks xmlns:a="http://schemas.openxmlformats.org/drawingml/2006/main" noGrp="1"/>
          </p:cNvSpPr>
          <p:nvPr/>
        </p:nvSpPr>
        <p:spPr>
          <a:xfrm xmlns:a="http://schemas.openxmlformats.org/drawingml/2006/main">
            <a:off x="657225" y="5962650"/>
            <a:ext cx="676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ACB9CD"/>
                </a:solidFill>
                <a:latin typeface="Arial"/>
                <a:ea typeface="Arial"/>
                <a:cs typeface="Arial"/>
              </a:defRPr>
            </a:pPr>
            <a:r>
              <a:rPr sz="1800" b="0">
                <a:solidFill>
                  <a:srgbClr val="ACB9CD"/>
                </a:solidFill>
                <a:latin typeface="Arial"/>
                <a:ea typeface="Arial"/>
                <a:cs typeface="Arial"/>
              </a:rPr>
              <a:t>ContextFlow / FEG Challenge 02</a:t>
            </a:r>
          </a:p>
        </p:txBody>
      </p:sp>
      <p:sp>
        <p:nvSpPr>
          <p:cNvPr id="6" name="">
            <a:extLst xmlns:a="http://schemas.openxmlformats.org/drawingml/2006/main">
              <a:ext uri="{FF2B5EF4-FFF2-40B4-BE49-F238E27FC236}">
                <a16:creationId xmlns:a16="http://schemas.microsoft.com/office/drawing/2014/main" id="{CEF03292-CFE9-467F-9F6A-5B2663245F20}"/>
              </a:ext>
            </a:extLst>
          </p:cNvPr>
          <p:cNvSpPr>
            <a:spLocks xmlns:a="http://schemas.openxmlformats.org/drawingml/2006/main" noGrp="1"/>
          </p:cNvSpPr>
          <p:nvPr/>
        </p:nvSpPr>
        <p:spPr>
          <a:xfrm xmlns:a="http://schemas.openxmlformats.org/drawingml/2006/main">
            <a:off x="657225" y="6391275"/>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CB9CD"/>
                </a:solidFill>
                <a:latin typeface="Arial"/>
                <a:ea typeface="Arial"/>
                <a:cs typeface="Arial"/>
              </a:defRPr>
            </a:pPr>
            <a:r>
              <a:rPr sz="1200" b="0">
                <a:solidFill>
                  <a:srgbClr val="ACB9CD"/>
                </a:solidFill>
                <a:latin typeface="Arial"/>
                <a:ea typeface="Arial"/>
                <a:cs typeface="Arial"/>
              </a:rPr>
              <a:t>STORYBOARD REVIEW · Human-spoken opening to capture</a:t>
            </a:r>
          </a:p>
        </p:txBody>
      </p:sp>
    </p:spTree>
    <p:extLst>
      <p:ext uri="{BB962C8B-B14F-4D97-AF65-F5344CB8AC3E}">
        <p14:creationId xmlns:p14="http://schemas.microsoft.com/office/powerpoint/2010/main" val="197595736"/>
      </p:ext>
    </p:extLst>
  </p:cSld>
</p:sld>
</file>

<file path=ppt/slides/slide2.xml><?xml version="1.0" encoding="utf-8"?>
<p:sld xmlns:p="http://schemas.openxmlformats.org/presentationml/2006/main">
  <p:cSld>
    <p:bg>
      <p:bgPr>
        <a:solidFill xmlns:a="http://schemas.openxmlformats.org/drawingml/2006/main">
          <a:srgbClr val="10151E"/>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E688A12-BD96-4855-84A3-A6851A0B0EAF}"/>
              </a:ext>
            </a:extLst>
          </p:cNvPr>
          <p:cNvSpPr>
            <a:spLocks xmlns:a="http://schemas.openxmlformats.org/drawingml/2006/main" noGrp="1"/>
          </p:cNvSpPr>
          <p:nvPr/>
        </p:nvSpPr>
        <p:spPr>
          <a:xfrm xmlns:a="http://schemas.openxmlformats.org/drawingml/2006/main">
            <a:off x="609600" y="495300"/>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3F6FC"/>
                </a:solidFill>
                <a:latin typeface="Arial"/>
                <a:ea typeface="Arial"/>
                <a:cs typeface="Arial"/>
              </a:defRPr>
            </a:pPr>
            <a:r>
              <a:rPr sz="3600" b="1">
                <a:solidFill>
                  <a:srgbClr val="F3F6FC"/>
                </a:solidFill>
                <a:latin typeface="Arial"/>
                <a:ea typeface="Arial"/>
                <a:cs typeface="Arial"/>
              </a:rPr>
              <a:t>The gap between sessions</a:t>
            </a:r>
          </a:p>
        </p:txBody>
      </p:sp>
      <p:sp>
        <p:nvSpPr>
          <p:cNvPr id="2" name="">
            <a:extLst xmlns:a="http://schemas.openxmlformats.org/drawingml/2006/main">
              <a:ext uri="{FF2B5EF4-FFF2-40B4-BE49-F238E27FC236}">
                <a16:creationId xmlns:a16="http://schemas.microsoft.com/office/drawing/2014/main" id="{FB5AE612-63DB-4D8C-8229-23E98AAEC5F2}"/>
              </a:ext>
            </a:extLst>
          </p:cNvPr>
          <p:cNvSpPr>
            <a:spLocks xmlns:a="http://schemas.openxmlformats.org/drawingml/2006/main" noGrp="1"/>
          </p:cNvSpPr>
          <p:nvPr/>
        </p:nvSpPr>
        <p:spPr>
          <a:xfrm xmlns:a="http://schemas.openxmlformats.org/drawingml/2006/main">
            <a:off x="628650" y="1333500"/>
            <a:ext cx="10896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CB9CD"/>
                </a:solidFill>
                <a:latin typeface="Arial"/>
                <a:ea typeface="Arial"/>
                <a:cs typeface="Arial"/>
              </a:defRPr>
            </a:pPr>
            <a:r>
              <a:rPr sz="1875" b="0">
                <a:solidFill>
                  <a:srgbClr val="ACB9CD"/>
                </a:solidFill>
                <a:latin typeface="Arial"/>
                <a:ea typeface="Arial"/>
                <a:cs typeface="Arial"/>
              </a:rPr>
              <a:t>A chosen task loses value when the next surface forgets it.</a:t>
            </a:r>
          </a:p>
        </p:txBody>
      </p:sp>
      <p:sp>
        <p:nvSpPr>
          <p:cNvPr id="3" name="">
            <a:extLst xmlns:a="http://schemas.openxmlformats.org/drawingml/2006/main">
              <a:ext uri="{FF2B5EF4-FFF2-40B4-BE49-F238E27FC236}">
                <a16:creationId xmlns:a16="http://schemas.microsoft.com/office/drawing/2014/main" id="{53A6AB9E-8C71-4824-A8E3-0B2DD0F38E48}"/>
              </a:ext>
            </a:extLst>
          </p:cNvPr>
          <p:cNvSpPr>
            <a:spLocks xmlns:a="http://schemas.openxmlformats.org/drawingml/2006/main" noGrp="1"/>
          </p:cNvSpPr>
          <p:nvPr/>
        </p:nvSpPr>
        <p:spPr>
          <a:xfrm xmlns:a="http://schemas.openxmlformats.org/drawingml/2006/main">
            <a:off x="62865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CB9CD"/>
                </a:solidFill>
                <a:latin typeface="Arial"/>
                <a:ea typeface="Arial"/>
                <a:cs typeface="Arial"/>
              </a:defRPr>
            </a:pPr>
            <a:r>
              <a:rPr sz="1200" b="0">
                <a:solidFill>
                  <a:srgbClr val="ACB9CD"/>
                </a:solidFill>
                <a:latin typeface="Arial"/>
                <a:ea typeface="Arial"/>
                <a:cs typeface="Arial"/>
              </a:rPr>
              <a:t>STORYBOARD REVIEW · 02</a:t>
            </a:r>
          </a:p>
        </p:txBody>
      </p:sp>
      <p:sp>
        <p:nvSpPr>
          <p:cNvPr id="4" name="">
            <a:extLst xmlns:a="http://schemas.openxmlformats.org/drawingml/2006/main">
              <a:ext uri="{FF2B5EF4-FFF2-40B4-BE49-F238E27FC236}">
                <a16:creationId xmlns:a16="http://schemas.microsoft.com/office/drawing/2014/main" id="{C0B4AD21-CF14-4A19-BC24-239E031D3BE5}"/>
              </a:ext>
            </a:extLst>
          </p:cNvPr>
          <p:cNvSpPr>
            <a:spLocks xmlns:a="http://schemas.openxmlformats.org/drawingml/2006/main" noGrp="1"/>
          </p:cNvSpPr>
          <p:nvPr/>
        </p:nvSpPr>
        <p:spPr>
          <a:xfrm xmlns:a="http://schemas.openxmlformats.org/drawingml/2006/main">
            <a:off x="704850" y="2428875"/>
            <a:ext cx="257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91BAFF"/>
                </a:solidFill>
                <a:latin typeface="Arial"/>
                <a:ea typeface="Arial"/>
                <a:cs typeface="Arial"/>
              </a:defRPr>
            </a:pPr>
            <a:r>
              <a:rPr sz="4950" b="1">
                <a:solidFill>
                  <a:srgbClr val="91BAFF"/>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1DDB90B9-E8BF-4E6B-B2FA-EB201CFC8290}"/>
              </a:ext>
            </a:extLst>
          </p:cNvPr>
          <p:cNvSpPr>
            <a:spLocks xmlns:a="http://schemas.openxmlformats.org/drawingml/2006/main" noGrp="1"/>
          </p:cNvSpPr>
          <p:nvPr/>
        </p:nvSpPr>
        <p:spPr>
          <a:xfrm xmlns:a="http://schemas.openxmlformats.org/drawingml/2006/main">
            <a:off x="704850" y="3305175"/>
            <a:ext cx="2905125" cy="19050"/>
          </a:xfrm>
          <a:prstGeom xmlns:a="http://schemas.openxmlformats.org/drawingml/2006/main" prst="rect">
            <a:avLst/>
          </a:prstGeom>
          <a:solidFill xmlns:a="http://schemas.openxmlformats.org/drawingml/2006/main">
            <a:srgbClr val="33425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BFF059C-C5E3-4EDE-A498-E1875671B714}"/>
              </a:ext>
            </a:extLst>
          </p:cNvPr>
          <p:cNvSpPr>
            <a:spLocks xmlns:a="http://schemas.openxmlformats.org/drawingml/2006/main" noGrp="1"/>
          </p:cNvSpPr>
          <p:nvPr/>
        </p:nvSpPr>
        <p:spPr>
          <a:xfrm xmlns:a="http://schemas.openxmlformats.org/drawingml/2006/main">
            <a:off x="704850" y="3638550"/>
            <a:ext cx="295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3F6FC"/>
                </a:solidFill>
                <a:latin typeface="Arial"/>
                <a:ea typeface="Arial"/>
                <a:cs typeface="Arial"/>
              </a:defRPr>
            </a:pPr>
            <a:r>
              <a:rPr sz="2250" b="1">
                <a:solidFill>
                  <a:srgbClr val="F3F6FC"/>
                </a:solidFill>
                <a:latin typeface="Arial"/>
                <a:ea typeface="Arial"/>
                <a:cs typeface="Arial"/>
              </a:rPr>
              <a:t>Research</a:t>
            </a:r>
          </a:p>
        </p:txBody>
      </p:sp>
      <p:sp>
        <p:nvSpPr>
          <p:cNvPr id="7" name="">
            <a:extLst xmlns:a="http://schemas.openxmlformats.org/drawingml/2006/main">
              <a:ext uri="{FF2B5EF4-FFF2-40B4-BE49-F238E27FC236}">
                <a16:creationId xmlns:a16="http://schemas.microsoft.com/office/drawing/2014/main" id="{1BE6644B-2B8A-4CE9-9017-F0933692681D}"/>
              </a:ext>
            </a:extLst>
          </p:cNvPr>
          <p:cNvSpPr>
            <a:spLocks xmlns:a="http://schemas.openxmlformats.org/drawingml/2006/main" noGrp="1"/>
          </p:cNvSpPr>
          <p:nvPr/>
        </p:nvSpPr>
        <p:spPr>
          <a:xfrm xmlns:a="http://schemas.openxmlformats.org/drawingml/2006/main">
            <a:off x="704850" y="4305300"/>
            <a:ext cx="295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CB9CD"/>
                </a:solidFill>
                <a:latin typeface="Arial"/>
                <a:ea typeface="Arial"/>
                <a:cs typeface="Arial"/>
              </a:defRPr>
            </a:pPr>
            <a:r>
              <a:rPr sz="1875" b="0">
                <a:solidFill>
                  <a:srgbClr val="ACB9CD"/>
                </a:solidFill>
                <a:latin typeface="Arial"/>
                <a:ea typeface="Arial"/>
                <a:cs typeface="Arial"/>
              </a:rPr>
              <a:t>Evidence gathered</a:t>
            </a:r>
          </a:p>
        </p:txBody>
      </p:sp>
      <p:sp>
        <p:nvSpPr>
          <p:cNvPr id="8" name="">
            <a:extLst xmlns:a="http://schemas.openxmlformats.org/drawingml/2006/main">
              <a:ext uri="{FF2B5EF4-FFF2-40B4-BE49-F238E27FC236}">
                <a16:creationId xmlns:a16="http://schemas.microsoft.com/office/drawing/2014/main" id="{F039CBB8-023E-4019-93D4-EE3FB672DB9A}"/>
              </a:ext>
            </a:extLst>
          </p:cNvPr>
          <p:cNvSpPr>
            <a:spLocks xmlns:a="http://schemas.openxmlformats.org/drawingml/2006/main" noGrp="1"/>
          </p:cNvSpPr>
          <p:nvPr/>
        </p:nvSpPr>
        <p:spPr>
          <a:xfrm xmlns:a="http://schemas.openxmlformats.org/drawingml/2006/main">
            <a:off x="4533900" y="2428875"/>
            <a:ext cx="257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91BAFF"/>
                </a:solidFill>
                <a:latin typeface="Arial"/>
                <a:ea typeface="Arial"/>
                <a:cs typeface="Arial"/>
              </a:defRPr>
            </a:pPr>
            <a:r>
              <a:rPr sz="4950" b="1">
                <a:solidFill>
                  <a:srgbClr val="91BAFF"/>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BAF63E82-364F-43BE-B542-6BA5AE14B1C6}"/>
              </a:ext>
            </a:extLst>
          </p:cNvPr>
          <p:cNvSpPr>
            <a:spLocks xmlns:a="http://schemas.openxmlformats.org/drawingml/2006/main" noGrp="1"/>
          </p:cNvSpPr>
          <p:nvPr/>
        </p:nvSpPr>
        <p:spPr>
          <a:xfrm xmlns:a="http://schemas.openxmlformats.org/drawingml/2006/main">
            <a:off x="4533900" y="3305175"/>
            <a:ext cx="2905125" cy="19050"/>
          </a:xfrm>
          <a:prstGeom xmlns:a="http://schemas.openxmlformats.org/drawingml/2006/main" prst="rect">
            <a:avLst/>
          </a:prstGeom>
          <a:solidFill xmlns:a="http://schemas.openxmlformats.org/drawingml/2006/main">
            <a:srgbClr val="334257"/>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D577EA7-F3BB-47F2-89D4-3379617B0F01}"/>
              </a:ext>
            </a:extLst>
          </p:cNvPr>
          <p:cNvSpPr>
            <a:spLocks xmlns:a="http://schemas.openxmlformats.org/drawingml/2006/main" noGrp="1"/>
          </p:cNvSpPr>
          <p:nvPr/>
        </p:nvSpPr>
        <p:spPr>
          <a:xfrm xmlns:a="http://schemas.openxmlformats.org/drawingml/2006/main">
            <a:off x="4533900" y="3638550"/>
            <a:ext cx="295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3F6FC"/>
                </a:solidFill>
                <a:latin typeface="Arial"/>
                <a:ea typeface="Arial"/>
                <a:cs typeface="Arial"/>
              </a:defRPr>
            </a:pPr>
            <a:r>
              <a:rPr sz="2250" b="1">
                <a:solidFill>
                  <a:srgbClr val="F3F6FC"/>
                </a:solidFill>
                <a:latin typeface="Arial"/>
                <a:ea typeface="Arial"/>
                <a:cs typeface="Arial"/>
              </a:rPr>
              <a:t>The app</a:t>
            </a:r>
          </a:p>
        </p:txBody>
      </p:sp>
      <p:sp>
        <p:nvSpPr>
          <p:cNvPr id="11" name="">
            <a:extLst xmlns:a="http://schemas.openxmlformats.org/drawingml/2006/main">
              <a:ext uri="{FF2B5EF4-FFF2-40B4-BE49-F238E27FC236}">
                <a16:creationId xmlns:a16="http://schemas.microsoft.com/office/drawing/2014/main" id="{04B32FA8-155F-44C6-A26F-AC6260A9927D}"/>
              </a:ext>
            </a:extLst>
          </p:cNvPr>
          <p:cNvSpPr>
            <a:spLocks xmlns:a="http://schemas.openxmlformats.org/drawingml/2006/main" noGrp="1"/>
          </p:cNvSpPr>
          <p:nvPr/>
        </p:nvSpPr>
        <p:spPr>
          <a:xfrm xmlns:a="http://schemas.openxmlformats.org/drawingml/2006/main">
            <a:off x="4533900" y="4305300"/>
            <a:ext cx="295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CB9CD"/>
                </a:solidFill>
                <a:latin typeface="Arial"/>
                <a:ea typeface="Arial"/>
                <a:cs typeface="Arial"/>
              </a:defRPr>
            </a:pPr>
            <a:r>
              <a:rPr sz="1875" b="0">
                <a:solidFill>
                  <a:srgbClr val="ACB9CD"/>
                </a:solidFill>
                <a:latin typeface="Arial"/>
                <a:ea typeface="Arial"/>
                <a:cs typeface="Arial"/>
              </a:rPr>
              <a:t>Action prepared</a:t>
            </a:r>
          </a:p>
        </p:txBody>
      </p:sp>
      <p:sp>
        <p:nvSpPr>
          <p:cNvPr id="12" name="">
            <a:extLst xmlns:a="http://schemas.openxmlformats.org/drawingml/2006/main">
              <a:ext uri="{FF2B5EF4-FFF2-40B4-BE49-F238E27FC236}">
                <a16:creationId xmlns:a16="http://schemas.microsoft.com/office/drawing/2014/main" id="{1EED1769-E423-4371-95F3-010C2F07468F}"/>
              </a:ext>
            </a:extLst>
          </p:cNvPr>
          <p:cNvSpPr>
            <a:spLocks xmlns:a="http://schemas.openxmlformats.org/drawingml/2006/main" noGrp="1"/>
          </p:cNvSpPr>
          <p:nvPr/>
        </p:nvSpPr>
        <p:spPr>
          <a:xfrm xmlns:a="http://schemas.openxmlformats.org/drawingml/2006/main">
            <a:off x="8362950" y="2428875"/>
            <a:ext cx="257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91BAFF"/>
                </a:solidFill>
                <a:latin typeface="Arial"/>
                <a:ea typeface="Arial"/>
                <a:cs typeface="Arial"/>
              </a:defRPr>
            </a:pPr>
            <a:r>
              <a:rPr sz="4950" b="1">
                <a:solidFill>
                  <a:srgbClr val="91BAFF"/>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F378EF38-FE92-4C91-B2F5-8C2BA18BDD01}"/>
              </a:ext>
            </a:extLst>
          </p:cNvPr>
          <p:cNvSpPr>
            <a:spLocks xmlns:a="http://schemas.openxmlformats.org/drawingml/2006/main" noGrp="1"/>
          </p:cNvSpPr>
          <p:nvPr/>
        </p:nvSpPr>
        <p:spPr>
          <a:xfrm xmlns:a="http://schemas.openxmlformats.org/drawingml/2006/main">
            <a:off x="8362950" y="3305175"/>
            <a:ext cx="2905125" cy="19050"/>
          </a:xfrm>
          <a:prstGeom xmlns:a="http://schemas.openxmlformats.org/drawingml/2006/main" prst="rect">
            <a:avLst/>
          </a:prstGeom>
          <a:solidFill xmlns:a="http://schemas.openxmlformats.org/drawingml/2006/main">
            <a:srgbClr val="334257"/>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2E4E688-AD2F-4307-BCC0-4BBAF6A51D6A}"/>
              </a:ext>
            </a:extLst>
          </p:cNvPr>
          <p:cNvSpPr>
            <a:spLocks xmlns:a="http://schemas.openxmlformats.org/drawingml/2006/main" noGrp="1"/>
          </p:cNvSpPr>
          <p:nvPr/>
        </p:nvSpPr>
        <p:spPr>
          <a:xfrm xmlns:a="http://schemas.openxmlformats.org/drawingml/2006/main">
            <a:off x="8362950" y="3638550"/>
            <a:ext cx="295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3F6FC"/>
                </a:solidFill>
                <a:latin typeface="Arial"/>
                <a:ea typeface="Arial"/>
                <a:cs typeface="Arial"/>
              </a:defRPr>
            </a:pPr>
            <a:r>
              <a:rPr sz="2250" b="1">
                <a:solidFill>
                  <a:srgbClr val="F3F6FC"/>
                </a:solidFill>
                <a:latin typeface="Arial"/>
                <a:ea typeface="Arial"/>
                <a:cs typeface="Arial"/>
              </a:rPr>
              <a:t>The home screen</a:t>
            </a:r>
          </a:p>
        </p:txBody>
      </p:sp>
      <p:sp>
        <p:nvSpPr>
          <p:cNvPr id="15" name="">
            <a:extLst xmlns:a="http://schemas.openxmlformats.org/drawingml/2006/main">
              <a:ext uri="{FF2B5EF4-FFF2-40B4-BE49-F238E27FC236}">
                <a16:creationId xmlns:a16="http://schemas.microsoft.com/office/drawing/2014/main" id="{E020BCD9-5398-4813-8B6A-8A90B1066B7E}"/>
              </a:ext>
            </a:extLst>
          </p:cNvPr>
          <p:cNvSpPr>
            <a:spLocks xmlns:a="http://schemas.openxmlformats.org/drawingml/2006/main" noGrp="1"/>
          </p:cNvSpPr>
          <p:nvPr/>
        </p:nvSpPr>
        <p:spPr>
          <a:xfrm xmlns:a="http://schemas.openxmlformats.org/drawingml/2006/main">
            <a:off x="8362950" y="4305300"/>
            <a:ext cx="295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CB9CD"/>
                </a:solidFill>
                <a:latin typeface="Arial"/>
                <a:ea typeface="Arial"/>
                <a:cs typeface="Arial"/>
              </a:defRPr>
            </a:pPr>
            <a:r>
              <a:rPr sz="1875" b="0">
                <a:solidFill>
                  <a:srgbClr val="ACB9CD"/>
                </a:solidFill>
                <a:latin typeface="Arial"/>
                <a:ea typeface="Arial"/>
                <a:cs typeface="Arial"/>
              </a:rPr>
              <a:t>A reason to return</a:t>
            </a:r>
          </a:p>
        </p:txBody>
      </p:sp>
      <p:sp>
        <p:nvSpPr>
          <p:cNvPr id="16" name="">
            <a:extLst xmlns:a="http://schemas.openxmlformats.org/drawingml/2006/main">
              <a:ext uri="{FF2B5EF4-FFF2-40B4-BE49-F238E27FC236}">
                <a16:creationId xmlns:a16="http://schemas.microsoft.com/office/drawing/2014/main" id="{369C7E43-9E29-4DCB-AC6D-577E82A8C8EF}"/>
              </a:ext>
            </a:extLst>
          </p:cNvPr>
          <p:cNvSpPr>
            <a:spLocks xmlns:a="http://schemas.openxmlformats.org/drawingml/2006/main" noGrp="1"/>
          </p:cNvSpPr>
          <p:nvPr/>
        </p:nvSpPr>
        <p:spPr>
          <a:xfrm xmlns:a="http://schemas.openxmlformats.org/drawingml/2006/main">
            <a:off x="704850" y="5486400"/>
            <a:ext cx="10715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3F6FC"/>
                </a:solidFill>
                <a:latin typeface="Arial"/>
                <a:ea typeface="Arial"/>
                <a:cs typeface="Arial"/>
              </a:defRPr>
            </a:pPr>
            <a:r>
              <a:rPr sz="2550" b="1">
                <a:solidFill>
                  <a:srgbClr val="F3F6FC"/>
                </a:solidFill>
                <a:latin typeface="Arial"/>
                <a:ea typeface="Arial"/>
                <a:cs typeface="Arial"/>
              </a:rPr>
              <a:t>ContextFlow carries the task between them.</a:t>
            </a:r>
          </a:p>
        </p:txBody>
      </p:sp>
    </p:spTree>
    <p:extLst>
      <p:ext uri="{BB962C8B-B14F-4D97-AF65-F5344CB8AC3E}">
        <p14:creationId xmlns:p14="http://schemas.microsoft.com/office/powerpoint/2010/main" val="741066094"/>
      </p:ext>
    </p:extLst>
  </p:cSld>
</p:sld>
</file>

<file path=ppt/slides/slide3.xml><?xml version="1.0" encoding="utf-8"?>
<p:sld xmlns:p="http://schemas.openxmlformats.org/presentationml/2006/main">
  <p:cSld>
    <p:bg>
      <p:bgPr>
        <a:solidFill xmlns:a="http://schemas.openxmlformats.org/drawingml/2006/main">
          <a:srgbClr val="10151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2526398-8E76-497F-AB7F-49D23E53FA14}"/>
              </a:ext>
            </a:extLst>
          </p:cNvPr>
          <p:cNvSpPr>
            <a:spLocks xmlns:a="http://schemas.openxmlformats.org/drawingml/2006/main" noGrp="1"/>
          </p:cNvSpPr>
          <p:nvPr/>
        </p:nvSpPr>
        <p:spPr>
          <a:xfrm xmlns:a="http://schemas.openxmlformats.org/drawingml/2006/main">
            <a:off x="609600" y="495300"/>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3F6FC"/>
                </a:solidFill>
                <a:latin typeface="Arial"/>
                <a:ea typeface="Arial"/>
                <a:cs typeface="Arial"/>
              </a:defRPr>
            </a:pPr>
            <a:r>
              <a:rPr sz="3600" b="1">
                <a:solidFill>
                  <a:srgbClr val="F3F6FC"/>
                </a:solidFill>
                <a:latin typeface="Arial"/>
                <a:ea typeface="Arial"/>
                <a:cs typeface="Arial"/>
              </a:rPr>
              <a:t>A task beyond the app</a:t>
            </a:r>
          </a:p>
        </p:txBody>
      </p:sp>
      <p:sp>
        <p:nvSpPr>
          <p:cNvPr id="2" name="">
            <a:extLst xmlns:a="http://schemas.openxmlformats.org/drawingml/2006/main">
              <a:ext uri="{FF2B5EF4-FFF2-40B4-BE49-F238E27FC236}">
                <a16:creationId xmlns:a16="http://schemas.microsoft.com/office/drawing/2014/main" id="{E420069B-01AE-46FD-AA72-AF0475611B34}"/>
              </a:ext>
            </a:extLst>
          </p:cNvPr>
          <p:cNvSpPr>
            <a:spLocks xmlns:a="http://schemas.openxmlformats.org/drawingml/2006/main" noGrp="1"/>
          </p:cNvSpPr>
          <p:nvPr/>
        </p:nvSpPr>
        <p:spPr>
          <a:xfrm xmlns:a="http://schemas.openxmlformats.org/drawingml/2006/main">
            <a:off x="628650" y="1333500"/>
            <a:ext cx="10896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CB9CD"/>
                </a:solidFill>
                <a:latin typeface="Arial"/>
                <a:ea typeface="Arial"/>
                <a:cs typeface="Arial"/>
              </a:defRPr>
            </a:pPr>
            <a:r>
              <a:rPr sz="1875" b="0">
                <a:solidFill>
                  <a:srgbClr val="ACB9CD"/>
                </a:solidFill>
                <a:latin typeface="Arial"/>
                <a:ea typeface="Arial"/>
                <a:cs typeface="Arial"/>
              </a:rPr>
              <a:t>One fictional match. One instruction. One exact confirmation.</a:t>
            </a:r>
          </a:p>
        </p:txBody>
      </p:sp>
      <p:sp>
        <p:nvSpPr>
          <p:cNvPr id="3" name="">
            <a:extLst xmlns:a="http://schemas.openxmlformats.org/drawingml/2006/main">
              <a:ext uri="{FF2B5EF4-FFF2-40B4-BE49-F238E27FC236}">
                <a16:creationId xmlns:a16="http://schemas.microsoft.com/office/drawing/2014/main" id="{2214ADB8-9D3D-4769-9337-AEF9FCAB1319}"/>
              </a:ext>
            </a:extLst>
          </p:cNvPr>
          <p:cNvSpPr>
            <a:spLocks xmlns:a="http://schemas.openxmlformats.org/drawingml/2006/main" noGrp="1"/>
          </p:cNvSpPr>
          <p:nvPr/>
        </p:nvSpPr>
        <p:spPr>
          <a:xfrm xmlns:a="http://schemas.openxmlformats.org/drawingml/2006/main">
            <a:off x="62865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CB9CD"/>
                </a:solidFill>
                <a:latin typeface="Arial"/>
                <a:ea typeface="Arial"/>
                <a:cs typeface="Arial"/>
              </a:defRPr>
            </a:pPr>
            <a:r>
              <a:rPr sz="1200" b="0">
                <a:solidFill>
                  <a:srgbClr val="ACB9CD"/>
                </a:solidFill>
                <a:latin typeface="Arial"/>
                <a:ea typeface="Arial"/>
                <a:cs typeface="Arial"/>
              </a:rPr>
              <a:t>STORYBOARD REVIEW · 03</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449dfd17bd594d56"/>
          <a:stretch xmlns:a="http://schemas.openxmlformats.org/drawingml/2006/main"/>
        </p:blipFill>
        <p:spPr>
          <a:xfrm xmlns:a="http://schemas.openxmlformats.org/drawingml/2006/main">
            <a:off x="628650" y="2721649"/>
            <a:ext cx="4953000" cy="2129077"/>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FD62D37-3A6C-49E2-8F35-5B90F06BEE6D}"/>
              </a:ext>
            </a:extLst>
          </p:cNvPr>
          <p:cNvSpPr>
            <a:spLocks xmlns:a="http://schemas.openxmlformats.org/drawingml/2006/main" noGrp="1"/>
          </p:cNvSpPr>
          <p:nvPr/>
        </p:nvSpPr>
        <p:spPr>
          <a:xfrm xmlns:a="http://schemas.openxmlformats.org/drawingml/2006/main">
            <a:off x="628650" y="5610225"/>
            <a:ext cx="4953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ACB9CD"/>
                </a:solidFill>
                <a:latin typeface="Arial"/>
                <a:ea typeface="Arial"/>
                <a:cs typeface="Arial"/>
              </a:defRPr>
            </a:pPr>
            <a:r>
              <a:rPr sz="1725" b="0">
                <a:solidFill>
                  <a:srgbClr val="ACB9CD"/>
                </a:solidFill>
                <a:latin typeface="Arial"/>
                <a:ea typeface="Arial"/>
                <a:cs typeface="Arial"/>
              </a:rPr>
              <a:t>Typed native QA reference</a:t>
            </a:r>
          </a:p>
        </p:txBody>
      </p:sp>
      <p:sp>
        <p:nvSpPr>
          <p:cNvPr id="6" name="">
            <a:extLst xmlns:a="http://schemas.openxmlformats.org/drawingml/2006/main">
              <a:ext uri="{FF2B5EF4-FFF2-40B4-BE49-F238E27FC236}">
                <a16:creationId xmlns:a16="http://schemas.microsoft.com/office/drawing/2014/main" id="{C5C267C6-0E04-4E0F-B0B0-6CCB3934E83C}"/>
              </a:ext>
            </a:extLst>
          </p:cNvPr>
          <p:cNvSpPr>
            <a:spLocks xmlns:a="http://schemas.openxmlformats.org/drawingml/2006/main" noGrp="1"/>
          </p:cNvSpPr>
          <p:nvPr/>
        </p:nvSpPr>
        <p:spPr>
          <a:xfrm xmlns:a="http://schemas.openxmlformats.org/drawingml/2006/main">
            <a:off x="6257925" y="2181225"/>
            <a:ext cx="52197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91BAFF"/>
                </a:solidFill>
                <a:latin typeface="Arial"/>
                <a:ea typeface="Arial"/>
                <a:cs typeface="Arial"/>
              </a:defRPr>
            </a:pPr>
            <a:r>
              <a:rPr sz="3900" b="1">
                <a:solidFill>
                  <a:srgbClr val="91BAFF"/>
                </a:solidFill>
                <a:latin typeface="Arial"/>
                <a:ea typeface="Arial"/>
                <a:cs typeface="Arial"/>
              </a:rPr>
              <a:t>10.00 → 5.00</a:t>
            </a:r>
          </a:p>
        </p:txBody>
      </p:sp>
      <p:sp>
        <p:nvSpPr>
          <p:cNvPr id="7" name="">
            <a:extLst xmlns:a="http://schemas.openxmlformats.org/drawingml/2006/main">
              <a:ext uri="{FF2B5EF4-FFF2-40B4-BE49-F238E27FC236}">
                <a16:creationId xmlns:a16="http://schemas.microsoft.com/office/drawing/2014/main" id="{E0C1894C-B24A-467E-8A3A-B1B035D7D4E6}"/>
              </a:ext>
            </a:extLst>
          </p:cNvPr>
          <p:cNvSpPr>
            <a:spLocks xmlns:a="http://schemas.openxmlformats.org/drawingml/2006/main" noGrp="1"/>
          </p:cNvSpPr>
          <p:nvPr/>
        </p:nvSpPr>
        <p:spPr>
          <a:xfrm xmlns:a="http://schemas.openxmlformats.org/drawingml/2006/main">
            <a:off x="6257925" y="3114675"/>
            <a:ext cx="52197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3F6FC"/>
                </a:solidFill>
                <a:latin typeface="Arial"/>
                <a:ea typeface="Arial"/>
                <a:cs typeface="Arial"/>
              </a:defRPr>
            </a:pPr>
            <a:r>
              <a:rPr sz="2175" b="0">
                <a:solidFill>
                  <a:srgbClr val="F3F6FC"/>
                </a:solidFill>
                <a:latin typeface="Arial"/>
                <a:ea typeface="Arial"/>
                <a:cs typeface="Arial"/>
              </a:rPr>
              <a:t>Home winner · odds 1.85</a:t>
            </a:r>
          </a:p>
          <a:p xmlns:a="http://schemas.openxmlformats.org/drawingml/2006/main">
            <a:pPr>
              <a:defRPr sz="2175" b="0">
                <a:solidFill>
                  <a:srgbClr val="F3F6FC"/>
                </a:solidFill>
                <a:latin typeface="Arial"/>
                <a:ea typeface="Arial"/>
                <a:cs typeface="Arial"/>
              </a:defRPr>
            </a:pPr>
            <a:r>
              <a:rPr sz="2175" b="0">
                <a:solidFill>
                  <a:srgbClr val="F3F6FC"/>
                </a:solidFill>
                <a:latin typeface="Arial"/>
                <a:ea typeface="Arial"/>
                <a:cs typeface="Arial"/>
              </a:rPr>
              <a:t>Estimated return 9.25</a:t>
            </a:r>
          </a:p>
          <a:p xmlns:a="http://schemas.openxmlformats.org/drawingml/2006/main">
            <a:pPr>
              <a:defRPr sz="2175" b="0">
                <a:solidFill>
                  <a:srgbClr val="F3F6FC"/>
                </a:solidFill>
                <a:latin typeface="Arial"/>
                <a:ea typeface="Arial"/>
                <a:cs typeface="Arial"/>
              </a:defRPr>
            </a:pPr>
            <a:r>
              <a:rPr sz="2175" b="0">
                <a:solidFill>
                  <a:srgbClr val="F3F6FC"/>
                </a:solidFill>
                <a:latin typeface="Arial"/>
                <a:ea typeface="Arial"/>
                <a:cs typeface="Arial"/>
              </a:rPr>
              <a:t>Demo credits only</a:t>
            </a:r>
          </a:p>
        </p:txBody>
      </p:sp>
      <p:sp>
        <p:nvSpPr>
          <p:cNvPr id="8" name="">
            <a:extLst xmlns:a="http://schemas.openxmlformats.org/drawingml/2006/main">
              <a:ext uri="{FF2B5EF4-FFF2-40B4-BE49-F238E27FC236}">
                <a16:creationId xmlns:a16="http://schemas.microsoft.com/office/drawing/2014/main" id="{C4C9A396-CD6C-4A91-B534-197927F72BC4}"/>
              </a:ext>
            </a:extLst>
          </p:cNvPr>
          <p:cNvSpPr>
            <a:spLocks xmlns:a="http://schemas.openxmlformats.org/drawingml/2006/main" noGrp="1"/>
          </p:cNvSpPr>
          <p:nvPr/>
        </p:nvSpPr>
        <p:spPr>
          <a:xfrm xmlns:a="http://schemas.openxmlformats.org/drawingml/2006/main">
            <a:off x="6257925" y="4733925"/>
            <a:ext cx="5219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ACB9CD"/>
                </a:solidFill>
                <a:latin typeface="Arial"/>
                <a:ea typeface="Arial"/>
                <a:cs typeface="Arial"/>
              </a:defRPr>
            </a:pPr>
            <a:r>
              <a:rPr sz="2175" b="0">
                <a:solidFill>
                  <a:srgbClr val="ACB9CD"/>
                </a:solidFill>
                <a:latin typeface="Arial"/>
                <a:ea typeface="Arial"/>
                <a:cs typeface="Arial"/>
              </a:rPr>
              <a:t>Research → voice → review</a:t>
            </a:r>
          </a:p>
          <a:p xmlns:a="http://schemas.openxmlformats.org/drawingml/2006/main">
            <a:pPr>
              <a:defRPr sz="2175" b="0">
                <a:solidFill>
                  <a:srgbClr val="ACB9CD"/>
                </a:solidFill>
                <a:latin typeface="Arial"/>
                <a:ea typeface="Arial"/>
                <a:cs typeface="Arial"/>
              </a:defRPr>
            </a:pPr>
            <a:r>
              <a:rPr sz="2175" b="0">
                <a:solidFill>
                  <a:srgbClr val="ACB9CD"/>
                </a:solidFill>
                <a:latin typeface="Arial"/>
                <a:ea typeface="Arial"/>
                <a:cs typeface="Arial"/>
              </a:rPr>
              <a:t>→ confirm → native surface</a:t>
            </a:r>
          </a:p>
        </p:txBody>
      </p:sp>
    </p:spTree>
    <p:extLst>
      <p:ext uri="{BB962C8B-B14F-4D97-AF65-F5344CB8AC3E}">
        <p14:creationId xmlns:p14="http://schemas.microsoft.com/office/powerpoint/2010/main" val="489939317"/>
      </p:ext>
    </p:extLst>
  </p:cSld>
</p:sld>
</file>

<file path=ppt/slides/slide4.xml><?xml version="1.0" encoding="utf-8"?>
<p:sld xmlns:p="http://schemas.openxmlformats.org/presentationml/2006/main">
  <p:cSld>
    <p:bg>
      <p:bgPr>
        <a:solidFill xmlns:a="http://schemas.openxmlformats.org/drawingml/2006/main">
          <a:srgbClr val="10151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A9B0E6C0-5592-4130-8395-0B6736AE4215}"/>
              </a:ext>
            </a:extLst>
          </p:cNvPr>
          <p:cNvSpPr>
            <a:spLocks xmlns:a="http://schemas.openxmlformats.org/drawingml/2006/main" noGrp="1"/>
          </p:cNvSpPr>
          <p:nvPr/>
        </p:nvSpPr>
        <p:spPr>
          <a:xfrm xmlns:a="http://schemas.openxmlformats.org/drawingml/2006/main">
            <a:off x="609600" y="495300"/>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3F6FC"/>
                </a:solidFill>
                <a:latin typeface="Arial"/>
                <a:ea typeface="Arial"/>
                <a:cs typeface="Arial"/>
              </a:defRPr>
            </a:pPr>
            <a:r>
              <a:rPr sz="3600" b="1">
                <a:solidFill>
                  <a:srgbClr val="F3F6FC"/>
                </a:solidFill>
                <a:latin typeface="Arial"/>
                <a:ea typeface="Arial"/>
                <a:cs typeface="Arial"/>
              </a:rPr>
              <a:t>Designed to fit an operator</a:t>
            </a:r>
          </a:p>
        </p:txBody>
      </p:sp>
      <p:sp>
        <p:nvSpPr>
          <p:cNvPr id="2" name="">
            <a:extLst xmlns:a="http://schemas.openxmlformats.org/drawingml/2006/main">
              <a:ext uri="{FF2B5EF4-FFF2-40B4-BE49-F238E27FC236}">
                <a16:creationId xmlns:a16="http://schemas.microsoft.com/office/drawing/2014/main" id="{4756D1D6-51F9-4F03-B9A0-A36A3DBEAA50}"/>
              </a:ext>
            </a:extLst>
          </p:cNvPr>
          <p:cNvSpPr>
            <a:spLocks xmlns:a="http://schemas.openxmlformats.org/drawingml/2006/main" noGrp="1"/>
          </p:cNvSpPr>
          <p:nvPr/>
        </p:nvSpPr>
        <p:spPr>
          <a:xfrm xmlns:a="http://schemas.openxmlformats.org/drawingml/2006/main">
            <a:off x="628650" y="1333500"/>
            <a:ext cx="10896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CB9CD"/>
                </a:solidFill>
                <a:latin typeface="Arial"/>
                <a:ea typeface="Arial"/>
                <a:cs typeface="Arial"/>
              </a:defRPr>
            </a:pPr>
            <a:r>
              <a:rPr sz="1875" b="0">
                <a:solidFill>
                  <a:srgbClr val="ACB9CD"/>
                </a:solidFill>
                <a:latin typeface="Arial"/>
                <a:ea typeface="Arial"/>
                <a:cs typeface="Arial"/>
              </a:rPr>
              <a:t>One shared action handler. Operator systems stay authoritative.</a:t>
            </a:r>
          </a:p>
        </p:txBody>
      </p:sp>
      <p:sp>
        <p:nvSpPr>
          <p:cNvPr id="3" name="">
            <a:extLst xmlns:a="http://schemas.openxmlformats.org/drawingml/2006/main">
              <a:ext uri="{FF2B5EF4-FFF2-40B4-BE49-F238E27FC236}">
                <a16:creationId xmlns:a16="http://schemas.microsoft.com/office/drawing/2014/main" id="{09015D4B-A8B6-4E7C-8F48-9478F40ECEAF}"/>
              </a:ext>
            </a:extLst>
          </p:cNvPr>
          <p:cNvSpPr>
            <a:spLocks xmlns:a="http://schemas.openxmlformats.org/drawingml/2006/main" noGrp="1"/>
          </p:cNvSpPr>
          <p:nvPr/>
        </p:nvSpPr>
        <p:spPr>
          <a:xfrm xmlns:a="http://schemas.openxmlformats.org/drawingml/2006/main">
            <a:off x="62865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CB9CD"/>
                </a:solidFill>
                <a:latin typeface="Arial"/>
                <a:ea typeface="Arial"/>
                <a:cs typeface="Arial"/>
              </a:defRPr>
            </a:pPr>
            <a:r>
              <a:rPr sz="1200" b="0">
                <a:solidFill>
                  <a:srgbClr val="ACB9CD"/>
                </a:solidFill>
                <a:latin typeface="Arial"/>
                <a:ea typeface="Arial"/>
                <a:cs typeface="Arial"/>
              </a:rPr>
              <a:t>STORYBOARD REVIEW · 04</a:t>
            </a:r>
          </a:p>
        </p:txBody>
      </p:sp>
      <p:sp>
        <p:nvSpPr>
          <p:cNvPr id="4" name="">
            <a:extLst xmlns:a="http://schemas.openxmlformats.org/drawingml/2006/main">
              <a:ext uri="{FF2B5EF4-FFF2-40B4-BE49-F238E27FC236}">
                <a16:creationId xmlns:a16="http://schemas.microsoft.com/office/drawing/2014/main" id="{8916DB1C-C608-4A21-98B3-9351A0849D76}"/>
              </a:ext>
            </a:extLst>
          </p:cNvPr>
          <p:cNvSpPr>
            <a:spLocks xmlns:a="http://schemas.openxmlformats.org/drawingml/2006/main" noGrp="1"/>
          </p:cNvSpPr>
          <p:nvPr/>
        </p:nvSpPr>
        <p:spPr>
          <a:xfrm xmlns:a="http://schemas.openxmlformats.org/drawingml/2006/main">
            <a:off x="609600" y="2533650"/>
            <a:ext cx="2609850" cy="1438275"/>
          </a:xfrm>
          <a:prstGeom xmlns:a="http://schemas.openxmlformats.org/drawingml/2006/main" prst="rect">
            <a:avLst/>
          </a:prstGeom>
          <a:solidFill xmlns:a="http://schemas.openxmlformats.org/drawingml/2006/main">
            <a:srgbClr val="1A223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F938A6B-38AA-47F6-8140-93E5DA6C2905}"/>
              </a:ext>
            </a:extLst>
          </p:cNvPr>
          <p:cNvSpPr>
            <a:spLocks xmlns:a="http://schemas.openxmlformats.org/drawingml/2006/main" noGrp="1"/>
          </p:cNvSpPr>
          <p:nvPr/>
        </p:nvSpPr>
        <p:spPr>
          <a:xfrm xmlns:a="http://schemas.openxmlformats.org/drawingml/2006/main">
            <a:off x="771525" y="2686050"/>
            <a:ext cx="2305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3F6FC"/>
                </a:solidFill>
                <a:latin typeface="Arial"/>
                <a:ea typeface="Arial"/>
                <a:cs typeface="Arial"/>
              </a:defRPr>
            </a:pPr>
            <a:r>
              <a:rPr sz="2100" b="1">
                <a:solidFill>
                  <a:srgbClr val="F3F6FC"/>
                </a:solidFill>
                <a:latin typeface="Arial"/>
                <a:ea typeface="Arial"/>
                <a:cs typeface="Arial"/>
              </a:rPr>
              <a:t>Research</a:t>
            </a:r>
          </a:p>
        </p:txBody>
      </p:sp>
      <p:sp>
        <p:nvSpPr>
          <p:cNvPr id="6" name="">
            <a:extLst xmlns:a="http://schemas.openxmlformats.org/drawingml/2006/main">
              <a:ext uri="{FF2B5EF4-FFF2-40B4-BE49-F238E27FC236}">
                <a16:creationId xmlns:a16="http://schemas.microsoft.com/office/drawing/2014/main" id="{3EE3ED21-A2A6-471F-82F9-6701A1399297}"/>
              </a:ext>
            </a:extLst>
          </p:cNvPr>
          <p:cNvSpPr>
            <a:spLocks xmlns:a="http://schemas.openxmlformats.org/drawingml/2006/main" noGrp="1"/>
          </p:cNvSpPr>
          <p:nvPr/>
        </p:nvSpPr>
        <p:spPr>
          <a:xfrm xmlns:a="http://schemas.openxmlformats.org/drawingml/2006/main">
            <a:off x="771525" y="3324225"/>
            <a:ext cx="22955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ACB9CD"/>
                </a:solidFill>
                <a:latin typeface="Arial"/>
                <a:ea typeface="Arial"/>
                <a:cs typeface="Arial"/>
              </a:defRPr>
            </a:pPr>
            <a:r>
              <a:rPr sz="1725" b="0">
                <a:solidFill>
                  <a:srgbClr val="ACB9CD"/>
                </a:solidFill>
                <a:latin typeface="Arial"/>
                <a:ea typeface="Arial"/>
                <a:cs typeface="Arial"/>
              </a:rPr>
              <a:t>Explicit instruction</a:t>
            </a:r>
          </a:p>
        </p:txBody>
      </p:sp>
      <p:sp>
        <p:nvSpPr>
          <p:cNvPr id="7" name="">
            <a:extLst xmlns:a="http://schemas.openxmlformats.org/drawingml/2006/main">
              <a:ext uri="{FF2B5EF4-FFF2-40B4-BE49-F238E27FC236}">
                <a16:creationId xmlns:a16="http://schemas.microsoft.com/office/drawing/2014/main" id="{B55CB85D-222B-4FCA-919A-1FA69449FD7B}"/>
              </a:ext>
            </a:extLst>
          </p:cNvPr>
          <p:cNvSpPr>
            <a:spLocks xmlns:a="http://schemas.openxmlformats.org/drawingml/2006/main" noGrp="1"/>
          </p:cNvSpPr>
          <p:nvPr/>
        </p:nvSpPr>
        <p:spPr>
          <a:xfrm xmlns:a="http://schemas.openxmlformats.org/drawingml/2006/main">
            <a:off x="3219450" y="2962275"/>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91BAFF"/>
                </a:solidFill>
                <a:latin typeface="Arial"/>
                <a:ea typeface="Arial"/>
                <a:cs typeface="Arial"/>
              </a:defRPr>
            </a:pPr>
            <a:r>
              <a:rPr sz="1800" b="0">
                <a:solidFill>
                  <a:srgbClr val="91BAFF"/>
                </a:solidFill>
                <a:latin typeface="Arial"/>
                <a:ea typeface="Arial"/>
                <a:cs typeface="Arial"/>
              </a:rPr>
              <a:t>→</a:t>
            </a:r>
          </a:p>
        </p:txBody>
      </p:sp>
      <p:sp>
        <p:nvSpPr>
          <p:cNvPr id="8" name="">
            <a:extLst xmlns:a="http://schemas.openxmlformats.org/drawingml/2006/main">
              <a:ext uri="{FF2B5EF4-FFF2-40B4-BE49-F238E27FC236}">
                <a16:creationId xmlns:a16="http://schemas.microsoft.com/office/drawing/2014/main" id="{16661DB1-685D-465F-9131-050A1C816EEC}"/>
              </a:ext>
            </a:extLst>
          </p:cNvPr>
          <p:cNvSpPr>
            <a:spLocks xmlns:a="http://schemas.openxmlformats.org/drawingml/2006/main" noGrp="1"/>
          </p:cNvSpPr>
          <p:nvPr/>
        </p:nvSpPr>
        <p:spPr>
          <a:xfrm xmlns:a="http://schemas.openxmlformats.org/drawingml/2006/main">
            <a:off x="3448050" y="2533650"/>
            <a:ext cx="2609850" cy="1438275"/>
          </a:xfrm>
          <a:prstGeom xmlns:a="http://schemas.openxmlformats.org/drawingml/2006/main" prst="rect">
            <a:avLst/>
          </a:prstGeom>
          <a:solidFill xmlns:a="http://schemas.openxmlformats.org/drawingml/2006/main">
            <a:srgbClr val="1A223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595349C-C3FD-4CDC-8543-6AD2AF7E08B5}"/>
              </a:ext>
            </a:extLst>
          </p:cNvPr>
          <p:cNvSpPr>
            <a:spLocks xmlns:a="http://schemas.openxmlformats.org/drawingml/2006/main" noGrp="1"/>
          </p:cNvSpPr>
          <p:nvPr/>
        </p:nvSpPr>
        <p:spPr>
          <a:xfrm xmlns:a="http://schemas.openxmlformats.org/drawingml/2006/main">
            <a:off x="3609975" y="2686050"/>
            <a:ext cx="2305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3F6FC"/>
                </a:solidFill>
                <a:latin typeface="Arial"/>
                <a:ea typeface="Arial"/>
                <a:cs typeface="Arial"/>
              </a:defRPr>
            </a:pPr>
            <a:r>
              <a:rPr sz="2100" b="1">
                <a:solidFill>
                  <a:srgbClr val="F3F6FC"/>
                </a:solidFill>
                <a:latin typeface="Arial"/>
                <a:ea typeface="Arial"/>
                <a:cs typeface="Arial"/>
              </a:rPr>
              <a:t>Versioned task</a:t>
            </a:r>
          </a:p>
        </p:txBody>
      </p:sp>
      <p:sp>
        <p:nvSpPr>
          <p:cNvPr id="10" name="">
            <a:extLst xmlns:a="http://schemas.openxmlformats.org/drawingml/2006/main">
              <a:ext uri="{FF2B5EF4-FFF2-40B4-BE49-F238E27FC236}">
                <a16:creationId xmlns:a16="http://schemas.microsoft.com/office/drawing/2014/main" id="{DE1FF62B-CA20-4CBF-917D-EF99C8D06F16}"/>
              </a:ext>
            </a:extLst>
          </p:cNvPr>
          <p:cNvSpPr>
            <a:spLocks xmlns:a="http://schemas.openxmlformats.org/drawingml/2006/main" noGrp="1"/>
          </p:cNvSpPr>
          <p:nvPr/>
        </p:nvSpPr>
        <p:spPr>
          <a:xfrm xmlns:a="http://schemas.openxmlformats.org/drawingml/2006/main">
            <a:off x="3609975" y="3324225"/>
            <a:ext cx="22955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ACB9CD"/>
                </a:solidFill>
                <a:latin typeface="Arial"/>
                <a:ea typeface="Arial"/>
                <a:cs typeface="Arial"/>
              </a:defRPr>
            </a:pPr>
            <a:r>
              <a:rPr sz="1725" b="0">
                <a:solidFill>
                  <a:srgbClr val="ACB9CD"/>
                </a:solidFill>
                <a:latin typeface="Arial"/>
                <a:ea typeface="Arial"/>
                <a:cs typeface="Arial"/>
              </a:rPr>
              <a:t>Context + sources</a:t>
            </a:r>
          </a:p>
        </p:txBody>
      </p:sp>
      <p:sp>
        <p:nvSpPr>
          <p:cNvPr id="11" name="">
            <a:extLst xmlns:a="http://schemas.openxmlformats.org/drawingml/2006/main">
              <a:ext uri="{FF2B5EF4-FFF2-40B4-BE49-F238E27FC236}">
                <a16:creationId xmlns:a16="http://schemas.microsoft.com/office/drawing/2014/main" id="{DC186B3F-43A7-49D9-B5AB-3ABB5F6DD5A9}"/>
              </a:ext>
            </a:extLst>
          </p:cNvPr>
          <p:cNvSpPr>
            <a:spLocks xmlns:a="http://schemas.openxmlformats.org/drawingml/2006/main" noGrp="1"/>
          </p:cNvSpPr>
          <p:nvPr/>
        </p:nvSpPr>
        <p:spPr>
          <a:xfrm xmlns:a="http://schemas.openxmlformats.org/drawingml/2006/main">
            <a:off x="6057900" y="2962275"/>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91BAFF"/>
                </a:solidFill>
                <a:latin typeface="Arial"/>
                <a:ea typeface="Arial"/>
                <a:cs typeface="Arial"/>
              </a:defRPr>
            </a:pPr>
            <a:r>
              <a:rPr sz="1800" b="0">
                <a:solidFill>
                  <a:srgbClr val="91BAFF"/>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49B2900E-062B-4DBC-8663-9A4D29A57B4E}"/>
              </a:ext>
            </a:extLst>
          </p:cNvPr>
          <p:cNvSpPr>
            <a:spLocks xmlns:a="http://schemas.openxmlformats.org/drawingml/2006/main" noGrp="1"/>
          </p:cNvSpPr>
          <p:nvPr/>
        </p:nvSpPr>
        <p:spPr>
          <a:xfrm xmlns:a="http://schemas.openxmlformats.org/drawingml/2006/main">
            <a:off x="6286500" y="2533650"/>
            <a:ext cx="2609850" cy="1438275"/>
          </a:xfrm>
          <a:prstGeom xmlns:a="http://schemas.openxmlformats.org/drawingml/2006/main" prst="rect">
            <a:avLst/>
          </a:prstGeom>
          <a:solidFill xmlns:a="http://schemas.openxmlformats.org/drawingml/2006/main">
            <a:srgbClr val="1A2230"/>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13CF904-9D75-4C35-8835-4E612B2890B6}"/>
              </a:ext>
            </a:extLst>
          </p:cNvPr>
          <p:cNvSpPr>
            <a:spLocks xmlns:a="http://schemas.openxmlformats.org/drawingml/2006/main" noGrp="1"/>
          </p:cNvSpPr>
          <p:nvPr/>
        </p:nvSpPr>
        <p:spPr>
          <a:xfrm xmlns:a="http://schemas.openxmlformats.org/drawingml/2006/main">
            <a:off x="6448425" y="2686050"/>
            <a:ext cx="2305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3F6FC"/>
                </a:solidFill>
                <a:latin typeface="Arial"/>
                <a:ea typeface="Arial"/>
                <a:cs typeface="Arial"/>
              </a:defRPr>
            </a:pPr>
            <a:r>
              <a:rPr sz="2100" b="1">
                <a:solidFill>
                  <a:srgbClr val="F3F6FC"/>
                </a:solidFill>
                <a:latin typeface="Arial"/>
                <a:ea typeface="Arial"/>
                <a:cs typeface="Arial"/>
              </a:rPr>
              <a:t>Shared actions</a:t>
            </a:r>
          </a:p>
        </p:txBody>
      </p:sp>
      <p:sp>
        <p:nvSpPr>
          <p:cNvPr id="14" name="">
            <a:extLst xmlns:a="http://schemas.openxmlformats.org/drawingml/2006/main">
              <a:ext uri="{FF2B5EF4-FFF2-40B4-BE49-F238E27FC236}">
                <a16:creationId xmlns:a16="http://schemas.microsoft.com/office/drawing/2014/main" id="{330757CB-9976-464A-A8FB-B8993BBBFEAD}"/>
              </a:ext>
            </a:extLst>
          </p:cNvPr>
          <p:cNvSpPr>
            <a:spLocks xmlns:a="http://schemas.openxmlformats.org/drawingml/2006/main" noGrp="1"/>
          </p:cNvSpPr>
          <p:nvPr/>
        </p:nvSpPr>
        <p:spPr>
          <a:xfrm xmlns:a="http://schemas.openxmlformats.org/drawingml/2006/main">
            <a:off x="6448425" y="3324225"/>
            <a:ext cx="22955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ACB9CD"/>
                </a:solidFill>
                <a:latin typeface="Arial"/>
                <a:ea typeface="Arial"/>
                <a:cs typeface="Arial"/>
              </a:defRPr>
            </a:pPr>
            <a:r>
              <a:rPr sz="1725" b="0">
                <a:solidFill>
                  <a:srgbClr val="ACB9CD"/>
                </a:solidFill>
                <a:latin typeface="Arial"/>
                <a:ea typeface="Arial"/>
                <a:cs typeface="Arial"/>
              </a:rPr>
              <a:t>Eligibility + consent</a:t>
            </a:r>
          </a:p>
        </p:txBody>
      </p:sp>
      <p:sp>
        <p:nvSpPr>
          <p:cNvPr id="15" name="">
            <a:extLst xmlns:a="http://schemas.openxmlformats.org/drawingml/2006/main">
              <a:ext uri="{FF2B5EF4-FFF2-40B4-BE49-F238E27FC236}">
                <a16:creationId xmlns:a16="http://schemas.microsoft.com/office/drawing/2014/main" id="{EB06399F-C64B-4F40-868A-FD62828914EB}"/>
              </a:ext>
            </a:extLst>
          </p:cNvPr>
          <p:cNvSpPr>
            <a:spLocks xmlns:a="http://schemas.openxmlformats.org/drawingml/2006/main" noGrp="1"/>
          </p:cNvSpPr>
          <p:nvPr/>
        </p:nvSpPr>
        <p:spPr>
          <a:xfrm xmlns:a="http://schemas.openxmlformats.org/drawingml/2006/main">
            <a:off x="8896350" y="2962275"/>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91BAFF"/>
                </a:solidFill>
                <a:latin typeface="Arial"/>
                <a:ea typeface="Arial"/>
                <a:cs typeface="Arial"/>
              </a:defRPr>
            </a:pPr>
            <a:r>
              <a:rPr sz="1800" b="0">
                <a:solidFill>
                  <a:srgbClr val="91BAFF"/>
                </a:solidFill>
                <a:latin typeface="Arial"/>
                <a:ea typeface="Arial"/>
                <a:cs typeface="Arial"/>
              </a:rPr>
              <a:t>→</a:t>
            </a:r>
          </a:p>
        </p:txBody>
      </p:sp>
      <p:sp>
        <p:nvSpPr>
          <p:cNvPr id="16" name="">
            <a:extLst xmlns:a="http://schemas.openxmlformats.org/drawingml/2006/main">
              <a:ext uri="{FF2B5EF4-FFF2-40B4-BE49-F238E27FC236}">
                <a16:creationId xmlns:a16="http://schemas.microsoft.com/office/drawing/2014/main" id="{EF8EE9A2-E314-4DD8-AE09-44ACB21D1208}"/>
              </a:ext>
            </a:extLst>
          </p:cNvPr>
          <p:cNvSpPr>
            <a:spLocks xmlns:a="http://schemas.openxmlformats.org/drawingml/2006/main" noGrp="1"/>
          </p:cNvSpPr>
          <p:nvPr/>
        </p:nvSpPr>
        <p:spPr>
          <a:xfrm xmlns:a="http://schemas.openxmlformats.org/drawingml/2006/main">
            <a:off x="9124950" y="2533650"/>
            <a:ext cx="2609850" cy="1438275"/>
          </a:xfrm>
          <a:prstGeom xmlns:a="http://schemas.openxmlformats.org/drawingml/2006/main" prst="rect">
            <a:avLst/>
          </a:prstGeom>
          <a:solidFill xmlns:a="http://schemas.openxmlformats.org/drawingml/2006/main">
            <a:srgbClr val="1A223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37D3788A-F6E7-42C2-99D8-57467D5B2D5D}"/>
              </a:ext>
            </a:extLst>
          </p:cNvPr>
          <p:cNvSpPr>
            <a:spLocks xmlns:a="http://schemas.openxmlformats.org/drawingml/2006/main" noGrp="1"/>
          </p:cNvSpPr>
          <p:nvPr/>
        </p:nvSpPr>
        <p:spPr>
          <a:xfrm xmlns:a="http://schemas.openxmlformats.org/drawingml/2006/main">
            <a:off x="9286875" y="2686050"/>
            <a:ext cx="2305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3F6FC"/>
                </a:solidFill>
                <a:latin typeface="Arial"/>
                <a:ea typeface="Arial"/>
                <a:cs typeface="Arial"/>
              </a:defRPr>
            </a:pPr>
            <a:r>
              <a:rPr sz="2100" b="1">
                <a:solidFill>
                  <a:srgbClr val="F3F6FC"/>
                </a:solidFill>
                <a:latin typeface="Arial"/>
                <a:ea typeface="Arial"/>
                <a:cs typeface="Arial"/>
              </a:rPr>
              <a:t>Operator adapters</a:t>
            </a:r>
          </a:p>
        </p:txBody>
      </p:sp>
      <p:sp>
        <p:nvSpPr>
          <p:cNvPr id="18" name="">
            <a:extLst xmlns:a="http://schemas.openxmlformats.org/drawingml/2006/main">
              <a:ext uri="{FF2B5EF4-FFF2-40B4-BE49-F238E27FC236}">
                <a16:creationId xmlns:a16="http://schemas.microsoft.com/office/drawing/2014/main" id="{6C456D5C-7407-4CA8-AC6A-FC30B4508063}"/>
              </a:ext>
            </a:extLst>
          </p:cNvPr>
          <p:cNvSpPr>
            <a:spLocks xmlns:a="http://schemas.openxmlformats.org/drawingml/2006/main" noGrp="1"/>
          </p:cNvSpPr>
          <p:nvPr/>
        </p:nvSpPr>
        <p:spPr>
          <a:xfrm xmlns:a="http://schemas.openxmlformats.org/drawingml/2006/main">
            <a:off x="9286875" y="3324225"/>
            <a:ext cx="22955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ACB9CD"/>
                </a:solidFill>
                <a:latin typeface="Arial"/>
                <a:ea typeface="Arial"/>
                <a:cs typeface="Arial"/>
              </a:defRPr>
            </a:pPr>
            <a:r>
              <a:rPr sz="1725" b="0">
                <a:solidFill>
                  <a:srgbClr val="ACB9CD"/>
                </a:solidFill>
                <a:latin typeface="Arial"/>
                <a:ea typeface="Arial"/>
                <a:cs typeface="Arial"/>
              </a:rPr>
              <a:t>Production dependency</a:t>
            </a:r>
          </a:p>
        </p:txBody>
      </p:sp>
      <p:sp>
        <p:nvSpPr>
          <p:cNvPr id="19" name="">
            <a:extLst xmlns:a="http://schemas.openxmlformats.org/drawingml/2006/main">
              <a:ext uri="{FF2B5EF4-FFF2-40B4-BE49-F238E27FC236}">
                <a16:creationId xmlns:a16="http://schemas.microsoft.com/office/drawing/2014/main" id="{EFC159FE-8AF6-4D7A-A312-E879967AE225}"/>
              </a:ext>
            </a:extLst>
          </p:cNvPr>
          <p:cNvSpPr>
            <a:spLocks xmlns:a="http://schemas.openxmlformats.org/drawingml/2006/main" noGrp="1"/>
          </p:cNvSpPr>
          <p:nvPr/>
        </p:nvSpPr>
        <p:spPr>
          <a:xfrm xmlns:a="http://schemas.openxmlformats.org/drawingml/2006/main">
            <a:off x="628650" y="4429125"/>
            <a:ext cx="10896600" cy="19050"/>
          </a:xfrm>
          <a:prstGeom xmlns:a="http://schemas.openxmlformats.org/drawingml/2006/main" prst="rect">
            <a:avLst/>
          </a:prstGeom>
          <a:solidFill xmlns:a="http://schemas.openxmlformats.org/drawingml/2006/main">
            <a:srgbClr val="334257"/>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109DECA2-78FA-4361-BE8C-65B9C1C462EF}"/>
              </a:ext>
            </a:extLst>
          </p:cNvPr>
          <p:cNvSpPr>
            <a:spLocks xmlns:a="http://schemas.openxmlformats.org/drawingml/2006/main" noGrp="1"/>
          </p:cNvSpPr>
          <p:nvPr/>
        </p:nvSpPr>
        <p:spPr>
          <a:xfrm xmlns:a="http://schemas.openxmlformats.org/drawingml/2006/main">
            <a:off x="628650" y="4714875"/>
            <a:ext cx="5238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91BAFF"/>
                </a:solidFill>
                <a:latin typeface="Arial"/>
                <a:ea typeface="Arial"/>
                <a:cs typeface="Arial"/>
              </a:defRPr>
            </a:pPr>
            <a:r>
              <a:rPr sz="2250" b="1">
                <a:solidFill>
                  <a:srgbClr val="91BAFF"/>
                </a:solidFill>
                <a:latin typeface="Arial"/>
                <a:ea typeface="Arial"/>
                <a:cs typeface="Arial"/>
              </a:rPr>
              <a:t>Touch · voice · handoff · shortcuts</a:t>
            </a:r>
          </a:p>
        </p:txBody>
      </p:sp>
      <p:sp>
        <p:nvSpPr>
          <p:cNvPr id="21" name="">
            <a:extLst xmlns:a="http://schemas.openxmlformats.org/drawingml/2006/main">
              <a:ext uri="{FF2B5EF4-FFF2-40B4-BE49-F238E27FC236}">
                <a16:creationId xmlns:a16="http://schemas.microsoft.com/office/drawing/2014/main" id="{2D266682-8CC7-413E-BB27-A1B4319F2F9C}"/>
              </a:ext>
            </a:extLst>
          </p:cNvPr>
          <p:cNvSpPr>
            <a:spLocks xmlns:a="http://schemas.openxmlformats.org/drawingml/2006/main" noGrp="1"/>
          </p:cNvSpPr>
          <p:nvPr/>
        </p:nvSpPr>
        <p:spPr>
          <a:xfrm xmlns:a="http://schemas.openxmlformats.org/drawingml/2006/main">
            <a:off x="6286500" y="4714875"/>
            <a:ext cx="52387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3F6FC"/>
                </a:solidFill>
                <a:latin typeface="Arial"/>
                <a:ea typeface="Arial"/>
                <a:cs typeface="Arial"/>
              </a:defRPr>
            </a:pPr>
            <a:r>
              <a:rPr sz="2250" b="1">
                <a:solidFill>
                  <a:srgbClr val="F3F6FC"/>
                </a:solidFill>
                <a:latin typeface="Arial"/>
                <a:ea typeface="Arial"/>
                <a:cs typeface="Arial"/>
              </a:rPr>
              <a:t>Review → explicit confirmation → receipt</a:t>
            </a:r>
          </a:p>
        </p:txBody>
      </p:sp>
    </p:spTree>
    <p:extLst>
      <p:ext uri="{BB962C8B-B14F-4D97-AF65-F5344CB8AC3E}">
        <p14:creationId xmlns:p14="http://schemas.microsoft.com/office/powerpoint/2010/main" val="1351439298"/>
      </p:ext>
    </p:extLst>
  </p:cSld>
</p:sld>
</file>

<file path=ppt/slides/slide5.xml><?xml version="1.0" encoding="utf-8"?>
<p:sld xmlns:p="http://schemas.openxmlformats.org/presentationml/2006/main">
  <p:cSld>
    <p:bg>
      <p:bgPr>
        <a:solidFill xmlns:a="http://schemas.openxmlformats.org/drawingml/2006/main">
          <a:srgbClr val="10151E"/>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E75CF0C-EC4B-47AB-AA6B-28521C5FBE7A}"/>
              </a:ext>
            </a:extLst>
          </p:cNvPr>
          <p:cNvSpPr>
            <a:spLocks xmlns:a="http://schemas.openxmlformats.org/drawingml/2006/main" noGrp="1"/>
          </p:cNvSpPr>
          <p:nvPr/>
        </p:nvSpPr>
        <p:spPr>
          <a:xfrm xmlns:a="http://schemas.openxmlformats.org/drawingml/2006/main">
            <a:off x="609600" y="495300"/>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3F6FC"/>
                </a:solidFill>
                <a:latin typeface="Arial"/>
                <a:ea typeface="Arial"/>
                <a:cs typeface="Arial"/>
              </a:defRPr>
            </a:pPr>
            <a:r>
              <a:rPr sz="3600" b="1">
                <a:solidFill>
                  <a:srgbClr val="F3F6FC"/>
                </a:solidFill>
                <a:latin typeface="Arial"/>
                <a:ea typeface="Arial"/>
                <a:cs typeface="Arial"/>
              </a:rPr>
              <a:t>What success looks like</a:t>
            </a:r>
          </a:p>
        </p:txBody>
      </p:sp>
      <p:sp>
        <p:nvSpPr>
          <p:cNvPr id="2" name="">
            <a:extLst xmlns:a="http://schemas.openxmlformats.org/drawingml/2006/main">
              <a:ext uri="{FF2B5EF4-FFF2-40B4-BE49-F238E27FC236}">
                <a16:creationId xmlns:a16="http://schemas.microsoft.com/office/drawing/2014/main" id="{F4418FA3-8643-4513-8D64-064922AB4191}"/>
              </a:ext>
            </a:extLst>
          </p:cNvPr>
          <p:cNvSpPr>
            <a:spLocks xmlns:a="http://schemas.openxmlformats.org/drawingml/2006/main" noGrp="1"/>
          </p:cNvSpPr>
          <p:nvPr/>
        </p:nvSpPr>
        <p:spPr>
          <a:xfrm xmlns:a="http://schemas.openxmlformats.org/drawingml/2006/main">
            <a:off x="628650" y="1333500"/>
            <a:ext cx="10896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CB9CD"/>
                </a:solidFill>
                <a:latin typeface="Arial"/>
                <a:ea typeface="Arial"/>
                <a:cs typeface="Arial"/>
              </a:defRPr>
            </a:pPr>
            <a:r>
              <a:rPr sz="1875" b="0">
                <a:solidFill>
                  <a:srgbClr val="ACB9CD"/>
                </a:solidFill>
                <a:latin typeface="Arial"/>
                <a:ea typeface="Arial"/>
                <a:cs typeface="Arial"/>
              </a:rPr>
              <a:t>1,000 people · 500 per arm · 30 days · later retention follow-up</a:t>
            </a:r>
          </a:p>
        </p:txBody>
      </p:sp>
      <p:sp>
        <p:nvSpPr>
          <p:cNvPr id="3" name="">
            <a:extLst xmlns:a="http://schemas.openxmlformats.org/drawingml/2006/main">
              <a:ext uri="{FF2B5EF4-FFF2-40B4-BE49-F238E27FC236}">
                <a16:creationId xmlns:a16="http://schemas.microsoft.com/office/drawing/2014/main" id="{4A17AC6B-D3F4-4D38-95FE-DBBE9D82184A}"/>
              </a:ext>
            </a:extLst>
          </p:cNvPr>
          <p:cNvSpPr>
            <a:spLocks xmlns:a="http://schemas.openxmlformats.org/drawingml/2006/main" noGrp="1"/>
          </p:cNvSpPr>
          <p:nvPr/>
        </p:nvSpPr>
        <p:spPr>
          <a:xfrm xmlns:a="http://schemas.openxmlformats.org/drawingml/2006/main">
            <a:off x="62865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CB9CD"/>
                </a:solidFill>
                <a:latin typeface="Arial"/>
                <a:ea typeface="Arial"/>
                <a:cs typeface="Arial"/>
              </a:defRPr>
            </a:pPr>
            <a:r>
              <a:rPr sz="1200" b="0">
                <a:solidFill>
                  <a:srgbClr val="ACB9CD"/>
                </a:solidFill>
                <a:latin typeface="Arial"/>
                <a:ea typeface="Arial"/>
                <a:cs typeface="Arial"/>
              </a:rPr>
              <a:t>STORYBOARD REVIEW · 05</a:t>
            </a:r>
          </a:p>
        </p:txBody>
      </p:sp>
      <p:sp>
        <p:nvSpPr>
          <p:cNvPr id="4" name="">
            <a:extLst xmlns:a="http://schemas.openxmlformats.org/drawingml/2006/main">
              <a:ext uri="{FF2B5EF4-FFF2-40B4-BE49-F238E27FC236}">
                <a16:creationId xmlns:a16="http://schemas.microsoft.com/office/drawing/2014/main" id="{4F79A57D-BD8E-43E1-9FF9-2FDE8CD094E3}"/>
              </a:ext>
            </a:extLst>
          </p:cNvPr>
          <p:cNvSpPr>
            <a:spLocks xmlns:a="http://schemas.openxmlformats.org/drawingml/2006/main" noGrp="1"/>
          </p:cNvSpPr>
          <p:nvPr/>
        </p:nvSpPr>
        <p:spPr>
          <a:xfrm xmlns:a="http://schemas.openxmlformats.org/drawingml/2006/main">
            <a:off x="628650" y="3448050"/>
            <a:ext cx="5095875" cy="19050"/>
          </a:xfrm>
          <a:prstGeom xmlns:a="http://schemas.openxmlformats.org/drawingml/2006/main" prst="rect">
            <a:avLst/>
          </a:prstGeom>
          <a:solidFill xmlns:a="http://schemas.openxmlformats.org/drawingml/2006/main">
            <a:srgbClr val="33425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F97B3D3-144F-4A4B-894E-A1E6C407778E}"/>
              </a:ext>
            </a:extLst>
          </p:cNvPr>
          <p:cNvSpPr>
            <a:spLocks xmlns:a="http://schemas.openxmlformats.org/drawingml/2006/main" noGrp="1"/>
          </p:cNvSpPr>
          <p:nvPr/>
        </p:nvSpPr>
        <p:spPr>
          <a:xfrm xmlns:a="http://schemas.openxmlformats.org/drawingml/2006/main">
            <a:off x="628650" y="2257425"/>
            <a:ext cx="5143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F3F6FC"/>
                </a:solidFill>
                <a:latin typeface="Arial"/>
                <a:ea typeface="Arial"/>
                <a:cs typeface="Arial"/>
              </a:defRPr>
            </a:pPr>
            <a:r>
              <a:rPr sz="2625" b="1">
                <a:solidFill>
                  <a:srgbClr val="F3F6FC"/>
                </a:solidFill>
                <a:latin typeface="Arial"/>
                <a:ea typeface="Arial"/>
                <a:cs typeface="Arial"/>
              </a:rPr>
              <a:t>Useful app opens</a:t>
            </a:r>
          </a:p>
        </p:txBody>
      </p:sp>
      <p:sp>
        <p:nvSpPr>
          <p:cNvPr id="6" name="">
            <a:extLst xmlns:a="http://schemas.openxmlformats.org/drawingml/2006/main">
              <a:ext uri="{FF2B5EF4-FFF2-40B4-BE49-F238E27FC236}">
                <a16:creationId xmlns:a16="http://schemas.microsoft.com/office/drawing/2014/main" id="{AEEED0A8-7525-4821-8C99-0FB8063BB2BA}"/>
              </a:ext>
            </a:extLst>
          </p:cNvPr>
          <p:cNvSpPr>
            <a:spLocks xmlns:a="http://schemas.openxmlformats.org/drawingml/2006/main" noGrp="1"/>
          </p:cNvSpPr>
          <p:nvPr/>
        </p:nvSpPr>
        <p:spPr>
          <a:xfrm xmlns:a="http://schemas.openxmlformats.org/drawingml/2006/main">
            <a:off x="628650" y="2867025"/>
            <a:ext cx="51244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ACB9CD"/>
                </a:solidFill>
                <a:latin typeface="Arial"/>
                <a:ea typeface="Arial"/>
                <a:cs typeface="Arial"/>
              </a:defRPr>
            </a:pPr>
            <a:r>
              <a:rPr sz="1950" b="0">
                <a:solidFill>
                  <a:srgbClr val="ACB9CD"/>
                </a:solidFill>
                <a:latin typeface="Arial"/>
                <a:ea typeface="Arial"/>
                <a:cs typeface="Arial"/>
              </a:rPr>
              <a:t>Per assigned user, per week</a:t>
            </a:r>
          </a:p>
        </p:txBody>
      </p:sp>
      <p:sp>
        <p:nvSpPr>
          <p:cNvPr id="7" name="">
            <a:extLst xmlns:a="http://schemas.openxmlformats.org/drawingml/2006/main">
              <a:ext uri="{FF2B5EF4-FFF2-40B4-BE49-F238E27FC236}">
                <a16:creationId xmlns:a16="http://schemas.microsoft.com/office/drawing/2014/main" id="{74A45B11-8F14-4321-9F6E-3DB0BFB349DB}"/>
              </a:ext>
            </a:extLst>
          </p:cNvPr>
          <p:cNvSpPr>
            <a:spLocks xmlns:a="http://schemas.openxmlformats.org/drawingml/2006/main" noGrp="1"/>
          </p:cNvSpPr>
          <p:nvPr/>
        </p:nvSpPr>
        <p:spPr>
          <a:xfrm xmlns:a="http://schemas.openxmlformats.org/drawingml/2006/main">
            <a:off x="6372225" y="3448050"/>
            <a:ext cx="5095875" cy="19050"/>
          </a:xfrm>
          <a:prstGeom xmlns:a="http://schemas.openxmlformats.org/drawingml/2006/main" prst="rect">
            <a:avLst/>
          </a:prstGeom>
          <a:solidFill xmlns:a="http://schemas.openxmlformats.org/drawingml/2006/main">
            <a:srgbClr val="334257"/>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4D0941E-820C-4B85-BBB8-2D9751AC48AF}"/>
              </a:ext>
            </a:extLst>
          </p:cNvPr>
          <p:cNvSpPr>
            <a:spLocks xmlns:a="http://schemas.openxmlformats.org/drawingml/2006/main" noGrp="1"/>
          </p:cNvSpPr>
          <p:nvPr/>
        </p:nvSpPr>
        <p:spPr>
          <a:xfrm xmlns:a="http://schemas.openxmlformats.org/drawingml/2006/main">
            <a:off x="6372225" y="2257425"/>
            <a:ext cx="5143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F3F6FC"/>
                </a:solidFill>
                <a:latin typeface="Arial"/>
                <a:ea typeface="Arial"/>
                <a:cs typeface="Arial"/>
              </a:defRPr>
            </a:pPr>
            <a:r>
              <a:rPr sz="2625" b="1">
                <a:solidFill>
                  <a:srgbClr val="F3F6FC"/>
                </a:solidFill>
                <a:latin typeface="Arial"/>
                <a:ea typeface="Arial"/>
                <a:cs typeface="Arial"/>
              </a:rPr>
              <a:t>Widget adoption</a:t>
            </a:r>
          </a:p>
        </p:txBody>
      </p:sp>
      <p:sp>
        <p:nvSpPr>
          <p:cNvPr id="9" name="">
            <a:extLst xmlns:a="http://schemas.openxmlformats.org/drawingml/2006/main">
              <a:ext uri="{FF2B5EF4-FFF2-40B4-BE49-F238E27FC236}">
                <a16:creationId xmlns:a16="http://schemas.microsoft.com/office/drawing/2014/main" id="{1C0F83D2-FCF9-449F-A965-E0B6686D79CF}"/>
              </a:ext>
            </a:extLst>
          </p:cNvPr>
          <p:cNvSpPr>
            <a:spLocks xmlns:a="http://schemas.openxmlformats.org/drawingml/2006/main" noGrp="1"/>
          </p:cNvSpPr>
          <p:nvPr/>
        </p:nvSpPr>
        <p:spPr>
          <a:xfrm xmlns:a="http://schemas.openxmlformats.org/drawingml/2006/main">
            <a:off x="6372225" y="2867025"/>
            <a:ext cx="51244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ACB9CD"/>
                </a:solidFill>
                <a:latin typeface="Arial"/>
                <a:ea typeface="Arial"/>
                <a:cs typeface="Arial"/>
              </a:defRPr>
            </a:pPr>
            <a:r>
              <a:rPr sz="1950" b="0">
                <a:solidFill>
                  <a:srgbClr val="ACB9CD"/>
                </a:solidFill>
                <a:latin typeface="Arial"/>
                <a:ea typeface="Arial"/>
                <a:cs typeface="Arial"/>
              </a:rPr>
              <a:t>Eligible treatment users</a:t>
            </a:r>
          </a:p>
        </p:txBody>
      </p:sp>
      <p:sp>
        <p:nvSpPr>
          <p:cNvPr id="10" name="">
            <a:extLst xmlns:a="http://schemas.openxmlformats.org/drawingml/2006/main">
              <a:ext uri="{FF2B5EF4-FFF2-40B4-BE49-F238E27FC236}">
                <a16:creationId xmlns:a16="http://schemas.microsoft.com/office/drawing/2014/main" id="{64009500-43EB-409E-B352-B8D7D59BBF23}"/>
              </a:ext>
            </a:extLst>
          </p:cNvPr>
          <p:cNvSpPr>
            <a:spLocks xmlns:a="http://schemas.openxmlformats.org/drawingml/2006/main" noGrp="1"/>
          </p:cNvSpPr>
          <p:nvPr/>
        </p:nvSpPr>
        <p:spPr>
          <a:xfrm xmlns:a="http://schemas.openxmlformats.org/drawingml/2006/main">
            <a:off x="628650" y="5114925"/>
            <a:ext cx="5095875" cy="19050"/>
          </a:xfrm>
          <a:prstGeom xmlns:a="http://schemas.openxmlformats.org/drawingml/2006/main" prst="rect">
            <a:avLst/>
          </a:prstGeom>
          <a:solidFill xmlns:a="http://schemas.openxmlformats.org/drawingml/2006/main">
            <a:srgbClr val="334257"/>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44AB0FB-6784-4F0D-8C1F-7F41B018768C}"/>
              </a:ext>
            </a:extLst>
          </p:cNvPr>
          <p:cNvSpPr>
            <a:spLocks xmlns:a="http://schemas.openxmlformats.org/drawingml/2006/main" noGrp="1"/>
          </p:cNvSpPr>
          <p:nvPr/>
        </p:nvSpPr>
        <p:spPr>
          <a:xfrm xmlns:a="http://schemas.openxmlformats.org/drawingml/2006/main">
            <a:off x="628650" y="3924300"/>
            <a:ext cx="5143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F3F6FC"/>
                </a:solidFill>
                <a:latin typeface="Arial"/>
                <a:ea typeface="Arial"/>
                <a:cs typeface="Arial"/>
              </a:defRPr>
            </a:pPr>
            <a:r>
              <a:rPr sz="2625" b="1">
                <a:solidFill>
                  <a:srgbClr val="F3F6FC"/>
                </a:solidFill>
                <a:latin typeface="Arial"/>
                <a:ea typeface="Arial"/>
                <a:cs typeface="Arial"/>
              </a:rPr>
              <a:t>Surface engagement</a:t>
            </a:r>
          </a:p>
        </p:txBody>
      </p:sp>
      <p:sp>
        <p:nvSpPr>
          <p:cNvPr id="12" name="">
            <a:extLst xmlns:a="http://schemas.openxmlformats.org/drawingml/2006/main">
              <a:ext uri="{FF2B5EF4-FFF2-40B4-BE49-F238E27FC236}">
                <a16:creationId xmlns:a16="http://schemas.microsoft.com/office/drawing/2014/main" id="{B41464C9-145E-4187-B37F-736D01022706}"/>
              </a:ext>
            </a:extLst>
          </p:cNvPr>
          <p:cNvSpPr>
            <a:spLocks xmlns:a="http://schemas.openxmlformats.org/drawingml/2006/main" noGrp="1"/>
          </p:cNvSpPr>
          <p:nvPr/>
        </p:nvSpPr>
        <p:spPr>
          <a:xfrm xmlns:a="http://schemas.openxmlformats.org/drawingml/2006/main">
            <a:off x="628650" y="4533900"/>
            <a:ext cx="51244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ACB9CD"/>
                </a:solidFill>
                <a:latin typeface="Arial"/>
                <a:ea typeface="Arial"/>
                <a:cs typeface="Arial"/>
              </a:defRPr>
            </a:pPr>
            <a:r>
              <a:rPr sz="1950" b="0">
                <a:solidFill>
                  <a:srgbClr val="ACB9CD"/>
                </a:solidFill>
                <a:latin typeface="Arial"/>
                <a:ea typeface="Arial"/>
                <a:cs typeface="Arial"/>
              </a:rPr>
              <a:t>Glances and deliberate continuations</a:t>
            </a:r>
          </a:p>
        </p:txBody>
      </p:sp>
      <p:sp>
        <p:nvSpPr>
          <p:cNvPr id="13" name="">
            <a:extLst xmlns:a="http://schemas.openxmlformats.org/drawingml/2006/main">
              <a:ext uri="{FF2B5EF4-FFF2-40B4-BE49-F238E27FC236}">
                <a16:creationId xmlns:a16="http://schemas.microsoft.com/office/drawing/2014/main" id="{F7471C20-1026-458B-BA47-A9DA7E3A3CA4}"/>
              </a:ext>
            </a:extLst>
          </p:cNvPr>
          <p:cNvSpPr>
            <a:spLocks xmlns:a="http://schemas.openxmlformats.org/drawingml/2006/main" noGrp="1"/>
          </p:cNvSpPr>
          <p:nvPr/>
        </p:nvSpPr>
        <p:spPr>
          <a:xfrm xmlns:a="http://schemas.openxmlformats.org/drawingml/2006/main">
            <a:off x="6372225" y="5114925"/>
            <a:ext cx="5095875" cy="19050"/>
          </a:xfrm>
          <a:prstGeom xmlns:a="http://schemas.openxmlformats.org/drawingml/2006/main" prst="rect">
            <a:avLst/>
          </a:prstGeom>
          <a:solidFill xmlns:a="http://schemas.openxmlformats.org/drawingml/2006/main">
            <a:srgbClr val="334257"/>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1539752-3D32-4326-BFB5-4D6909902231}"/>
              </a:ext>
            </a:extLst>
          </p:cNvPr>
          <p:cNvSpPr>
            <a:spLocks xmlns:a="http://schemas.openxmlformats.org/drawingml/2006/main" noGrp="1"/>
          </p:cNvSpPr>
          <p:nvPr/>
        </p:nvSpPr>
        <p:spPr>
          <a:xfrm xmlns:a="http://schemas.openxmlformats.org/drawingml/2006/main">
            <a:off x="6372225" y="3924300"/>
            <a:ext cx="5143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F3F6FC"/>
                </a:solidFill>
                <a:latin typeface="Arial"/>
                <a:ea typeface="Arial"/>
                <a:cs typeface="Arial"/>
              </a:defRPr>
            </a:pPr>
            <a:r>
              <a:rPr sz="2625" b="1">
                <a:solidFill>
                  <a:srgbClr val="F3F6FC"/>
                </a:solidFill>
                <a:latin typeface="Arial"/>
                <a:ea typeface="Arial"/>
                <a:cs typeface="Arial"/>
              </a:rPr>
              <a:t>Opt-in retention</a:t>
            </a:r>
          </a:p>
        </p:txBody>
      </p:sp>
      <p:sp>
        <p:nvSpPr>
          <p:cNvPr id="15" name="">
            <a:extLst xmlns:a="http://schemas.openxmlformats.org/drawingml/2006/main">
              <a:ext uri="{FF2B5EF4-FFF2-40B4-BE49-F238E27FC236}">
                <a16:creationId xmlns:a16="http://schemas.microsoft.com/office/drawing/2014/main" id="{800BC6BD-E267-4692-A2B8-0CE9D7B0B7E0}"/>
              </a:ext>
            </a:extLst>
          </p:cNvPr>
          <p:cNvSpPr>
            <a:spLocks xmlns:a="http://schemas.openxmlformats.org/drawingml/2006/main" noGrp="1"/>
          </p:cNvSpPr>
          <p:nvPr/>
        </p:nvSpPr>
        <p:spPr>
          <a:xfrm xmlns:a="http://schemas.openxmlformats.org/drawingml/2006/main">
            <a:off x="6372225" y="4533900"/>
            <a:ext cx="51244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ACB9CD"/>
                </a:solidFill>
                <a:latin typeface="Arial"/>
                <a:ea typeface="Arial"/>
                <a:cs typeface="Arial"/>
              </a:defRPr>
            </a:pPr>
            <a:r>
              <a:rPr sz="1950" b="0">
                <a:solidFill>
                  <a:srgbClr val="ACB9CD"/>
                </a:solidFill>
                <a:latin typeface="Arial"/>
                <a:ea typeface="Arial"/>
                <a:cs typeface="Arial"/>
              </a:rPr>
              <a:t>Consent retained after exposure</a:t>
            </a:r>
          </a:p>
        </p:txBody>
      </p:sp>
      <p:sp>
        <p:nvSpPr>
          <p:cNvPr id="16" name="">
            <a:extLst xmlns:a="http://schemas.openxmlformats.org/drawingml/2006/main">
              <a:ext uri="{FF2B5EF4-FFF2-40B4-BE49-F238E27FC236}">
                <a16:creationId xmlns:a16="http://schemas.microsoft.com/office/drawing/2014/main" id="{59951782-45AB-47CF-8CEA-0F83CDE0D987}"/>
              </a:ext>
            </a:extLst>
          </p:cNvPr>
          <p:cNvSpPr>
            <a:spLocks xmlns:a="http://schemas.openxmlformats.org/drawingml/2006/main" noGrp="1"/>
          </p:cNvSpPr>
          <p:nvPr/>
        </p:nvSpPr>
        <p:spPr>
          <a:xfrm xmlns:a="http://schemas.openxmlformats.org/drawingml/2006/main">
            <a:off x="628650" y="5915025"/>
            <a:ext cx="10896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91BAFF"/>
                </a:solidFill>
                <a:latin typeface="Arial"/>
                <a:ea typeface="Arial"/>
                <a:cs typeface="Arial"/>
              </a:defRPr>
            </a:pPr>
            <a:r>
              <a:rPr sz="1725" b="0">
                <a:solidFill>
                  <a:srgbClr val="91BAFF"/>
                </a:solidFill>
                <a:latin typeface="Arial"/>
                <a:ea typeface="Arial"/>
                <a:cs typeface="Arial"/>
              </a:rPr>
              <a:t>Also track task success, off-app completion, opt-outs and harmful-play indicators.</a:t>
            </a:r>
          </a:p>
        </p:txBody>
      </p:sp>
    </p:spTree>
    <p:extLst>
      <p:ext uri="{BB962C8B-B14F-4D97-AF65-F5344CB8AC3E}">
        <p14:creationId xmlns:p14="http://schemas.microsoft.com/office/powerpoint/2010/main" val="108874647"/>
      </p:ext>
    </p:extLst>
  </p:cSld>
</p:sld>
</file>

<file path=ppt/slides/slide6.xml><?xml version="1.0" encoding="utf-8"?>
<p:sld xmlns:p="http://schemas.openxmlformats.org/presentationml/2006/main">
  <p:cSld>
    <p:bg>
      <p:bgPr>
        <a:solidFill xmlns:a="http://schemas.openxmlformats.org/drawingml/2006/main">
          <a:srgbClr val="10151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F220094-610D-4780-9335-A3AE71EEF27D}"/>
              </a:ext>
            </a:extLst>
          </p:cNvPr>
          <p:cNvSpPr>
            <a:spLocks xmlns:a="http://schemas.openxmlformats.org/drawingml/2006/main" noGrp="1"/>
          </p:cNvSpPr>
          <p:nvPr/>
        </p:nvSpPr>
        <p:spPr>
          <a:xfrm xmlns:a="http://schemas.openxmlformats.org/drawingml/2006/main">
            <a:off x="609600" y="495300"/>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3F6FC"/>
                </a:solidFill>
                <a:latin typeface="Arial"/>
                <a:ea typeface="Arial"/>
                <a:cs typeface="Arial"/>
              </a:defRPr>
            </a:pPr>
            <a:r>
              <a:rPr sz="3600" b="1">
                <a:solidFill>
                  <a:srgbClr val="F3F6FC"/>
                </a:solidFill>
                <a:latin typeface="Arial"/>
                <a:ea typeface="Arial"/>
                <a:cs typeface="Arial"/>
              </a:rPr>
              <a:t>The value and the cost</a:t>
            </a:r>
          </a:p>
        </p:txBody>
      </p:sp>
      <p:sp>
        <p:nvSpPr>
          <p:cNvPr id="2" name="">
            <a:extLst xmlns:a="http://schemas.openxmlformats.org/drawingml/2006/main">
              <a:ext uri="{FF2B5EF4-FFF2-40B4-BE49-F238E27FC236}">
                <a16:creationId xmlns:a16="http://schemas.microsoft.com/office/drawing/2014/main" id="{7B4C5A16-DF43-4C04-BE97-3E80F5C8CF50}"/>
              </a:ext>
            </a:extLst>
          </p:cNvPr>
          <p:cNvSpPr>
            <a:spLocks xmlns:a="http://schemas.openxmlformats.org/drawingml/2006/main" noGrp="1"/>
          </p:cNvSpPr>
          <p:nvPr/>
        </p:nvSpPr>
        <p:spPr>
          <a:xfrm xmlns:a="http://schemas.openxmlformats.org/drawingml/2006/main">
            <a:off x="628650" y="1333500"/>
            <a:ext cx="10896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CB9CD"/>
                </a:solidFill>
                <a:latin typeface="Arial"/>
                <a:ea typeface="Arial"/>
                <a:cs typeface="Arial"/>
              </a:defRPr>
            </a:pPr>
            <a:r>
              <a:rPr sz="1875" b="0">
                <a:solidFill>
                  <a:srgbClr val="ACB9CD"/>
                </a:solidFill>
                <a:latin typeface="Arial"/>
                <a:ea typeface="Arial"/>
                <a:cs typeface="Arial"/>
              </a:rPr>
              <a:t>Illustrative monthly operating case — usage calibration remains open.</a:t>
            </a:r>
          </a:p>
        </p:txBody>
      </p:sp>
      <p:sp>
        <p:nvSpPr>
          <p:cNvPr id="3" name="">
            <a:extLst xmlns:a="http://schemas.openxmlformats.org/drawingml/2006/main">
              <a:ext uri="{FF2B5EF4-FFF2-40B4-BE49-F238E27FC236}">
                <a16:creationId xmlns:a16="http://schemas.microsoft.com/office/drawing/2014/main" id="{62A48EF7-8D0E-4185-BCBD-AF696C33973B}"/>
              </a:ext>
            </a:extLst>
          </p:cNvPr>
          <p:cNvSpPr>
            <a:spLocks xmlns:a="http://schemas.openxmlformats.org/drawingml/2006/main" noGrp="1"/>
          </p:cNvSpPr>
          <p:nvPr/>
        </p:nvSpPr>
        <p:spPr>
          <a:xfrm xmlns:a="http://schemas.openxmlformats.org/drawingml/2006/main">
            <a:off x="62865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CB9CD"/>
                </a:solidFill>
                <a:latin typeface="Arial"/>
                <a:ea typeface="Arial"/>
                <a:cs typeface="Arial"/>
              </a:defRPr>
            </a:pPr>
            <a:r>
              <a:rPr sz="1200" b="0">
                <a:solidFill>
                  <a:srgbClr val="ACB9CD"/>
                </a:solidFill>
                <a:latin typeface="Arial"/>
                <a:ea typeface="Arial"/>
                <a:cs typeface="Arial"/>
              </a:rPr>
              <a:t>STORYBOARD REVIEW · 06</a:t>
            </a:r>
          </a:p>
        </p:txBody>
      </p:sp>
      <p:graphicFrame>
        <p:nvGraphicFramePr>
          <p:cNvPr id="11" name=""/>
          <p:cNvGraphicFramePr/>
          <p:nvPr/>
        </p:nvGraphicFramePr>
        <p:xfrm>
          <a:off xmlns:a="http://schemas.openxmlformats.org/drawingml/2006/main" x="628650" y="2238375"/>
          <a:ext xmlns:a="http://schemas.openxmlformats.org/drawingml/2006/main" cx="10896600" cy="2905125"/>
        </p:xfrm>
        <a:graphic xmlns:a="http://schemas.openxmlformats.org/drawingml/2006/main">
          <a:graphicData uri="http://schemas.openxmlformats.org/drawingml/2006/table">
            <a:tbl>
              <a:tblPr/>
              <a:tblGrid>
                <a:gridCol w="4552950"/>
                <a:gridCol w="2114550"/>
                <a:gridCol w="2114550"/>
                <a:gridCol w="2114550"/>
              </a:tblGrid>
              <a:tr h="581025">
                <a:tc>
                  <a:txBody>
                    <a:bodyPr>
                      <a:noAutofit/>
                    </a:bodyPr>
                    <a:lstStyle/>
                    <a:p>
                      <a:r>
                        <a:rPr sz="1800" b="1">
                          <a:solidFill>
                            <a:srgbClr val="F3F6FC"/>
                          </a:solidFill>
                          <a:latin typeface="Arial"/>
                          <a:ea typeface="Arial"/>
                          <a:cs typeface="Arial"/>
                        </a:rPr>
                        <a:t>Treatment adoption</a:t>
                      </a:r>
                    </a:p>
                  </a:txBody>
                  <a:tcPr marL="91440" marR="91440" marT="45720" marB="45720">
                    <a:solidFill>
                      <a:srgbClr val="2563EB"/>
                    </a:solidFill>
                  </a:tcPr>
                </a:tc>
                <a:tc>
                  <a:txBody>
                    <a:bodyPr>
                      <a:noAutofit/>
                    </a:bodyPr>
                    <a:lstStyle/>
                    <a:p>
                      <a:r>
                        <a:rPr sz="1800" b="1">
                          <a:solidFill>
                            <a:srgbClr val="F3F6FC"/>
                          </a:solidFill>
                          <a:latin typeface="Arial"/>
                          <a:ea typeface="Arial"/>
                          <a:cs typeface="Arial"/>
                        </a:rPr>
                        <a:t>10%</a:t>
                      </a:r>
                    </a:p>
                  </a:txBody>
                  <a:tcPr marL="91440" marR="91440" marT="45720" marB="45720">
                    <a:solidFill>
                      <a:srgbClr val="2563EB"/>
                    </a:solidFill>
                  </a:tcPr>
                </a:tc>
                <a:tc>
                  <a:txBody>
                    <a:bodyPr>
                      <a:noAutofit/>
                    </a:bodyPr>
                    <a:lstStyle/>
                    <a:p>
                      <a:r>
                        <a:rPr sz="1800" b="1">
                          <a:solidFill>
                            <a:srgbClr val="F3F6FC"/>
                          </a:solidFill>
                          <a:latin typeface="Arial"/>
                          <a:ea typeface="Arial"/>
                          <a:cs typeface="Arial"/>
                        </a:rPr>
                        <a:t>20%</a:t>
                      </a:r>
                    </a:p>
                  </a:txBody>
                  <a:tcPr marL="91440" marR="91440" marT="45720" marB="45720">
                    <a:solidFill>
                      <a:srgbClr val="2563EB"/>
                    </a:solidFill>
                  </a:tcPr>
                </a:tc>
                <a:tc>
                  <a:txBody>
                    <a:bodyPr>
                      <a:noAutofit/>
                    </a:bodyPr>
                    <a:lstStyle/>
                    <a:p>
                      <a:r>
                        <a:rPr sz="1800" b="1">
                          <a:solidFill>
                            <a:srgbClr val="F3F6FC"/>
                          </a:solidFill>
                          <a:latin typeface="Arial"/>
                          <a:ea typeface="Arial"/>
                          <a:cs typeface="Arial"/>
                        </a:rPr>
                        <a:t>30%</a:t>
                      </a:r>
                    </a:p>
                  </a:txBody>
                  <a:tcPr marL="91440" marR="91440" marT="45720" marB="45720">
                    <a:solidFill>
                      <a:srgbClr val="2563EB"/>
                    </a:solidFill>
                  </a:tcPr>
                </a:tc>
              </a:tr>
              <a:tr h="581025">
                <a:tc>
                  <a:txBody>
                    <a:bodyPr>
                      <a:noAutofit/>
                    </a:bodyPr>
                    <a:lstStyle/>
                    <a:p>
                      <a:r>
                        <a:rPr sz="1800" b="1">
                          <a:solidFill>
                            <a:srgbClr val="F3F6FC"/>
                          </a:solidFill>
                          <a:latin typeface="Arial"/>
                          <a:ea typeface="Arial"/>
                          <a:cs typeface="Arial"/>
                        </a:rPr>
                        <a:t>Adopters</a:t>
                      </a:r>
                    </a:p>
                  </a:txBody>
                  <a:tcPr marL="91440" marR="91440" marT="45720" marB="45720">
                    <a:solidFill>
                      <a:srgbClr val="1A2230"/>
                    </a:solidFill>
                  </a:tcPr>
                </a:tc>
                <a:tc>
                  <a:txBody>
                    <a:bodyPr>
                      <a:noAutofit/>
                    </a:bodyPr>
                    <a:lstStyle/>
                    <a:p>
                      <a:r>
                        <a:rPr sz="1800" b="0">
                          <a:solidFill>
                            <a:srgbClr val="F3F6FC"/>
                          </a:solidFill>
                          <a:latin typeface="Arial"/>
                          <a:ea typeface="Arial"/>
                          <a:cs typeface="Arial"/>
                        </a:rPr>
                        <a:t>50</a:t>
                      </a:r>
                    </a:p>
                  </a:txBody>
                  <a:tcPr marL="91440" marR="91440" marT="45720" marB="45720">
                    <a:solidFill>
                      <a:srgbClr val="1A2230"/>
                    </a:solidFill>
                  </a:tcPr>
                </a:tc>
                <a:tc>
                  <a:txBody>
                    <a:bodyPr>
                      <a:noAutofit/>
                    </a:bodyPr>
                    <a:lstStyle/>
                    <a:p>
                      <a:r>
                        <a:rPr sz="1800" b="0">
                          <a:solidFill>
                            <a:srgbClr val="F3F6FC"/>
                          </a:solidFill>
                          <a:latin typeface="Arial"/>
                          <a:ea typeface="Arial"/>
                          <a:cs typeface="Arial"/>
                        </a:rPr>
                        <a:t>100</a:t>
                      </a:r>
                    </a:p>
                  </a:txBody>
                  <a:tcPr marL="91440" marR="91440" marT="45720" marB="45720">
                    <a:solidFill>
                      <a:srgbClr val="1A2230"/>
                    </a:solidFill>
                  </a:tcPr>
                </a:tc>
                <a:tc>
                  <a:txBody>
                    <a:bodyPr>
                      <a:noAutofit/>
                    </a:bodyPr>
                    <a:lstStyle/>
                    <a:p>
                      <a:r>
                        <a:rPr sz="1800" b="0">
                          <a:solidFill>
                            <a:srgbClr val="F3F6FC"/>
                          </a:solidFill>
                          <a:latin typeface="Arial"/>
                          <a:ea typeface="Arial"/>
                          <a:cs typeface="Arial"/>
                        </a:rPr>
                        <a:t>150</a:t>
                      </a:r>
                    </a:p>
                  </a:txBody>
                  <a:tcPr marL="91440" marR="91440" marT="45720" marB="45720">
                    <a:solidFill>
                      <a:srgbClr val="1A2230"/>
                    </a:solidFill>
                  </a:tcPr>
                </a:tc>
              </a:tr>
              <a:tr h="581025">
                <a:tc>
                  <a:txBody>
                    <a:bodyPr>
                      <a:noAutofit/>
                    </a:bodyPr>
                    <a:lstStyle/>
                    <a:p>
                      <a:r>
                        <a:rPr sz="1800" b="1">
                          <a:solidFill>
                            <a:srgbClr val="F3F6FC"/>
                          </a:solidFill>
                          <a:latin typeface="Arial"/>
                          <a:ea typeface="Arial"/>
                          <a:cs typeface="Arial"/>
                        </a:rPr>
                        <a:t>Voice tasks</a:t>
                      </a:r>
                    </a:p>
                  </a:txBody>
                  <a:tcPr marL="91440" marR="91440" marT="45720" marB="45720">
                    <a:solidFill>
                      <a:srgbClr val="10151E"/>
                    </a:solidFill>
                  </a:tcPr>
                </a:tc>
                <a:tc>
                  <a:txBody>
                    <a:bodyPr>
                      <a:noAutofit/>
                    </a:bodyPr>
                    <a:lstStyle/>
                    <a:p>
                      <a:r>
                        <a:rPr sz="1800" b="0">
                          <a:solidFill>
                            <a:srgbClr val="F3F6FC"/>
                          </a:solidFill>
                          <a:latin typeface="Arial"/>
                          <a:ea typeface="Arial"/>
                          <a:cs typeface="Arial"/>
                        </a:rPr>
                        <a:t>200</a:t>
                      </a:r>
                    </a:p>
                  </a:txBody>
                  <a:tcPr marL="91440" marR="91440" marT="45720" marB="45720">
                    <a:solidFill>
                      <a:srgbClr val="10151E"/>
                    </a:solidFill>
                  </a:tcPr>
                </a:tc>
                <a:tc>
                  <a:txBody>
                    <a:bodyPr>
                      <a:noAutofit/>
                    </a:bodyPr>
                    <a:lstStyle/>
                    <a:p>
                      <a:r>
                        <a:rPr sz="1800" b="0">
                          <a:solidFill>
                            <a:srgbClr val="F3F6FC"/>
                          </a:solidFill>
                          <a:latin typeface="Arial"/>
                          <a:ea typeface="Arial"/>
                          <a:cs typeface="Arial"/>
                        </a:rPr>
                        <a:t>400</a:t>
                      </a:r>
                    </a:p>
                  </a:txBody>
                  <a:tcPr marL="91440" marR="91440" marT="45720" marB="45720">
                    <a:solidFill>
                      <a:srgbClr val="10151E"/>
                    </a:solidFill>
                  </a:tcPr>
                </a:tc>
                <a:tc>
                  <a:txBody>
                    <a:bodyPr>
                      <a:noAutofit/>
                    </a:bodyPr>
                    <a:lstStyle/>
                    <a:p>
                      <a:r>
                        <a:rPr sz="1800" b="0">
                          <a:solidFill>
                            <a:srgbClr val="F3F6FC"/>
                          </a:solidFill>
                          <a:latin typeface="Arial"/>
                          <a:ea typeface="Arial"/>
                          <a:cs typeface="Arial"/>
                        </a:rPr>
                        <a:t>600</a:t>
                      </a:r>
                    </a:p>
                  </a:txBody>
                  <a:tcPr marL="91440" marR="91440" marT="45720" marB="45720">
                    <a:solidFill>
                      <a:srgbClr val="10151E"/>
                    </a:solidFill>
                  </a:tcPr>
                </a:tc>
              </a:tr>
              <a:tr h="581025">
                <a:tc>
                  <a:txBody>
                    <a:bodyPr>
                      <a:noAutofit/>
                    </a:bodyPr>
                    <a:lstStyle/>
                    <a:p>
                      <a:r>
                        <a:rPr sz="1800" b="1">
                          <a:solidFill>
                            <a:srgbClr val="F3F6FC"/>
                          </a:solidFill>
                          <a:latin typeface="Arial"/>
                          <a:ea typeface="Arial"/>
                          <a:cs typeface="Arial"/>
                        </a:rPr>
                        <a:t>Operating cost</a:t>
                      </a:r>
                    </a:p>
                  </a:txBody>
                  <a:tcPr marL="91440" marR="91440" marT="45720" marB="45720">
                    <a:solidFill>
                      <a:srgbClr val="1A2230"/>
                    </a:solidFill>
                  </a:tcPr>
                </a:tc>
                <a:tc>
                  <a:txBody>
                    <a:bodyPr>
                      <a:noAutofit/>
                    </a:bodyPr>
                    <a:lstStyle/>
                    <a:p>
                      <a:r>
                        <a:rPr sz="1800" b="0">
                          <a:solidFill>
                            <a:srgbClr val="F3F6FC"/>
                          </a:solidFill>
                          <a:latin typeface="Arial"/>
                          <a:ea typeface="Arial"/>
                          <a:cs typeface="Arial"/>
                        </a:rPr>
                        <a:t>€201</a:t>
                      </a:r>
                    </a:p>
                  </a:txBody>
                  <a:tcPr marL="91440" marR="91440" marT="45720" marB="45720">
                    <a:solidFill>
                      <a:srgbClr val="1A2230"/>
                    </a:solidFill>
                  </a:tcPr>
                </a:tc>
                <a:tc>
                  <a:txBody>
                    <a:bodyPr>
                      <a:noAutofit/>
                    </a:bodyPr>
                    <a:lstStyle/>
                    <a:p>
                      <a:r>
                        <a:rPr sz="1800" b="0">
                          <a:solidFill>
                            <a:srgbClr val="F3F6FC"/>
                          </a:solidFill>
                          <a:latin typeface="Arial"/>
                          <a:ea typeface="Arial"/>
                          <a:cs typeface="Arial"/>
                        </a:rPr>
                        <a:t>€258</a:t>
                      </a:r>
                    </a:p>
                  </a:txBody>
                  <a:tcPr marL="91440" marR="91440" marT="45720" marB="45720">
                    <a:solidFill>
                      <a:srgbClr val="1A2230"/>
                    </a:solidFill>
                  </a:tcPr>
                </a:tc>
                <a:tc>
                  <a:txBody>
                    <a:bodyPr>
                      <a:noAutofit/>
                    </a:bodyPr>
                    <a:lstStyle/>
                    <a:p>
                      <a:r>
                        <a:rPr sz="1800" b="0">
                          <a:solidFill>
                            <a:srgbClr val="F3F6FC"/>
                          </a:solidFill>
                          <a:latin typeface="Arial"/>
                          <a:ea typeface="Arial"/>
                          <a:cs typeface="Arial"/>
                        </a:rPr>
                        <a:t>€314</a:t>
                      </a:r>
                    </a:p>
                  </a:txBody>
                  <a:tcPr marL="91440" marR="91440" marT="45720" marB="45720">
                    <a:solidFill>
                      <a:srgbClr val="1A2230"/>
                    </a:solidFill>
                  </a:tcPr>
                </a:tc>
              </a:tr>
              <a:tr h="581025">
                <a:tc>
                  <a:txBody>
                    <a:bodyPr>
                      <a:noAutofit/>
                    </a:bodyPr>
                    <a:lstStyle/>
                    <a:p>
                      <a:r>
                        <a:rPr sz="1800" b="1">
                          <a:solidFill>
                            <a:srgbClr val="F3F6FC"/>
                          </a:solidFill>
                          <a:latin typeface="Arial"/>
                          <a:ea typeface="Arial"/>
                          <a:cs typeface="Arial"/>
                        </a:rPr>
                        <a:t>Contribution to break even¹</a:t>
                      </a:r>
                    </a:p>
                  </a:txBody>
                  <a:tcPr marL="91440" marR="91440" marT="45720" marB="45720">
                    <a:solidFill>
                      <a:srgbClr val="10151E"/>
                    </a:solidFill>
                  </a:tcPr>
                </a:tc>
                <a:tc>
                  <a:txBody>
                    <a:bodyPr>
                      <a:noAutofit/>
                    </a:bodyPr>
                    <a:lstStyle/>
                    <a:p>
                      <a:r>
                        <a:rPr sz="1800" b="0">
                          <a:solidFill>
                            <a:srgbClr val="F3F6FC"/>
                          </a:solidFill>
                          <a:latin typeface="Arial"/>
                          <a:ea typeface="Arial"/>
                          <a:cs typeface="Arial"/>
                        </a:rPr>
                        <a:t>€3.03</a:t>
                      </a:r>
                    </a:p>
                  </a:txBody>
                  <a:tcPr marL="91440" marR="91440" marT="45720" marB="45720">
                    <a:solidFill>
                      <a:srgbClr val="10151E"/>
                    </a:solidFill>
                  </a:tcPr>
                </a:tc>
                <a:tc>
                  <a:txBody>
                    <a:bodyPr>
                      <a:noAutofit/>
                    </a:bodyPr>
                    <a:lstStyle/>
                    <a:p>
                      <a:r>
                        <a:rPr sz="1800" b="0">
                          <a:solidFill>
                            <a:srgbClr val="F3F6FC"/>
                          </a:solidFill>
                          <a:latin typeface="Arial"/>
                          <a:ea typeface="Arial"/>
                          <a:cs typeface="Arial"/>
                        </a:rPr>
                        <a:t>€1.58</a:t>
                      </a:r>
                    </a:p>
                  </a:txBody>
                  <a:tcPr marL="91440" marR="91440" marT="45720" marB="45720">
                    <a:solidFill>
                      <a:srgbClr val="10151E"/>
                    </a:solidFill>
                  </a:tcPr>
                </a:tc>
                <a:tc>
                  <a:txBody>
                    <a:bodyPr>
                      <a:noAutofit/>
                    </a:bodyPr>
                    <a:lstStyle/>
                    <a:p>
                      <a:r>
                        <a:rPr sz="1800" b="0">
                          <a:solidFill>
                            <a:srgbClr val="F3F6FC"/>
                          </a:solidFill>
                          <a:latin typeface="Arial"/>
                          <a:ea typeface="Arial"/>
                          <a:cs typeface="Arial"/>
                        </a:rPr>
                        <a:t>€1.09</a:t>
                      </a:r>
                    </a:p>
                  </a:txBody>
                  <a:tcPr marL="91440" marR="91440" marT="45720" marB="45720">
                    <a:solidFill>
                      <a:srgbClr val="10151E"/>
                    </a:solidFill>
                  </a:tcPr>
                </a:tc>
              </a:tr>
            </a:tbl>
          </a:graphicData>
        </a:graphic>
      </p:graphicFrame>
      <p:sp>
        <p:nvSpPr>
          <p:cNvPr id="5" name="">
            <a:extLst xmlns:a="http://schemas.openxmlformats.org/drawingml/2006/main">
              <a:ext uri="{FF2B5EF4-FFF2-40B4-BE49-F238E27FC236}">
                <a16:creationId xmlns:a16="http://schemas.microsoft.com/office/drawing/2014/main" id="{66D2DF9E-255F-4598-B235-CA0641A496DE}"/>
              </a:ext>
            </a:extLst>
          </p:cNvPr>
          <p:cNvSpPr>
            <a:spLocks xmlns:a="http://schemas.openxmlformats.org/drawingml/2006/main" noGrp="1"/>
          </p:cNvSpPr>
          <p:nvPr/>
        </p:nvSpPr>
        <p:spPr>
          <a:xfrm xmlns:a="http://schemas.openxmlformats.org/drawingml/2006/main">
            <a:off x="628650" y="5410200"/>
            <a:ext cx="2714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91BAFF"/>
                </a:solidFill>
                <a:latin typeface="Arial"/>
                <a:ea typeface="Arial"/>
                <a:cs typeface="Arial"/>
              </a:defRPr>
            </a:pPr>
            <a:r>
              <a:rPr sz="3150" b="1">
                <a:solidFill>
                  <a:srgbClr val="91BAFF"/>
                </a:solidFill>
                <a:latin typeface="Arial"/>
                <a:ea typeface="Arial"/>
                <a:cs typeface="Arial"/>
              </a:rPr>
              <a:t>€9,120</a:t>
            </a:r>
          </a:p>
        </p:txBody>
      </p:sp>
      <p:sp>
        <p:nvSpPr>
          <p:cNvPr id="6" name="">
            <a:extLst xmlns:a="http://schemas.openxmlformats.org/drawingml/2006/main">
              <a:ext uri="{FF2B5EF4-FFF2-40B4-BE49-F238E27FC236}">
                <a16:creationId xmlns:a16="http://schemas.microsoft.com/office/drawing/2014/main" id="{8938F91A-1BB5-4B5D-817F-9D0774E085B6}"/>
              </a:ext>
            </a:extLst>
          </p:cNvPr>
          <p:cNvSpPr>
            <a:spLocks xmlns:a="http://schemas.openxmlformats.org/drawingml/2006/main" noGrp="1"/>
          </p:cNvSpPr>
          <p:nvPr/>
        </p:nvSpPr>
        <p:spPr>
          <a:xfrm xmlns:a="http://schemas.openxmlformats.org/drawingml/2006/main">
            <a:off x="3048000" y="550545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3F6FC"/>
                </a:solidFill>
                <a:latin typeface="Arial"/>
                <a:ea typeface="Arial"/>
                <a:cs typeface="Arial"/>
              </a:defRPr>
            </a:pPr>
            <a:r>
              <a:rPr sz="2100" b="0">
                <a:solidFill>
                  <a:srgbClr val="F3F6FC"/>
                </a:solidFill>
                <a:latin typeface="Arial"/>
                <a:ea typeface="Arial"/>
                <a:cs typeface="Arial"/>
              </a:rPr>
              <a:t>illustrative upfront effort</a:t>
            </a:r>
          </a:p>
        </p:txBody>
      </p:sp>
      <p:sp>
        <p:nvSpPr>
          <p:cNvPr id="7" name="">
            <a:extLst xmlns:a="http://schemas.openxmlformats.org/drawingml/2006/main">
              <a:ext uri="{FF2B5EF4-FFF2-40B4-BE49-F238E27FC236}">
                <a16:creationId xmlns:a16="http://schemas.microsoft.com/office/drawing/2014/main" id="{324B5CCC-5179-4B7B-93EE-D02F33A00330}"/>
              </a:ext>
            </a:extLst>
          </p:cNvPr>
          <p:cNvSpPr>
            <a:spLocks xmlns:a="http://schemas.openxmlformats.org/drawingml/2006/main" noGrp="1"/>
          </p:cNvSpPr>
          <p:nvPr/>
        </p:nvSpPr>
        <p:spPr>
          <a:xfrm xmlns:a="http://schemas.openxmlformats.org/drawingml/2006/main">
            <a:off x="628650" y="6105525"/>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CB9CD"/>
                </a:solidFill>
                <a:latin typeface="Arial"/>
                <a:ea typeface="Arial"/>
                <a:cs typeface="Arial"/>
              </a:defRPr>
            </a:pPr>
            <a:r>
              <a:rPr sz="1350" b="0">
                <a:solidFill>
                  <a:srgbClr val="ACB9CD"/>
                </a:solidFill>
                <a:latin typeface="Arial"/>
                <a:ea typeface="Arial"/>
                <a:cs typeface="Arial"/>
              </a:rPr>
              <a:t>¹ Per adopter, after assumed support savings. Excludes recovery of upfront effort and unquoted identity costs.</a:t>
            </a:r>
          </a:p>
        </p:txBody>
      </p:sp>
    </p:spTree>
    <p:extLst>
      <p:ext uri="{BB962C8B-B14F-4D97-AF65-F5344CB8AC3E}">
        <p14:creationId xmlns:p14="http://schemas.microsoft.com/office/powerpoint/2010/main" val="12632492"/>
      </p:ext>
    </p:extLst>
  </p:cSld>
</p:sld>
</file>

<file path=ppt/slides/slide7.xml><?xml version="1.0" encoding="utf-8"?>
<p:sld xmlns:p="http://schemas.openxmlformats.org/presentationml/2006/main">
  <p:cSld>
    <p:bg>
      <p:bgPr>
        <a:solidFill xmlns:a="http://schemas.openxmlformats.org/drawingml/2006/main">
          <a:srgbClr val="10151E"/>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5B73BAB-275B-4C08-B204-DBF84B6E8EBE}"/>
              </a:ext>
            </a:extLst>
          </p:cNvPr>
          <p:cNvSpPr>
            <a:spLocks xmlns:a="http://schemas.openxmlformats.org/drawingml/2006/main" noGrp="1"/>
          </p:cNvSpPr>
          <p:nvPr/>
        </p:nvSpPr>
        <p:spPr>
          <a:xfrm xmlns:a="http://schemas.openxmlformats.org/drawingml/2006/main">
            <a:off x="609600" y="495300"/>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3F6FC"/>
                </a:solidFill>
                <a:latin typeface="Arial"/>
                <a:ea typeface="Arial"/>
                <a:cs typeface="Arial"/>
              </a:defRPr>
            </a:pPr>
            <a:r>
              <a:rPr sz="3600" b="1">
                <a:solidFill>
                  <a:srgbClr val="F3F6FC"/>
                </a:solidFill>
                <a:latin typeface="Arial"/>
                <a:ea typeface="Arial"/>
                <a:cs typeface="Arial"/>
              </a:rPr>
              <a:t>Control stays with the user</a:t>
            </a:r>
          </a:p>
        </p:txBody>
      </p:sp>
      <p:sp>
        <p:nvSpPr>
          <p:cNvPr id="2" name="">
            <a:extLst xmlns:a="http://schemas.openxmlformats.org/drawingml/2006/main">
              <a:ext uri="{FF2B5EF4-FFF2-40B4-BE49-F238E27FC236}">
                <a16:creationId xmlns:a16="http://schemas.microsoft.com/office/drawing/2014/main" id="{0310A307-4FB7-47E5-B76A-93A9434D277E}"/>
              </a:ext>
            </a:extLst>
          </p:cNvPr>
          <p:cNvSpPr>
            <a:spLocks xmlns:a="http://schemas.openxmlformats.org/drawingml/2006/main" noGrp="1"/>
          </p:cNvSpPr>
          <p:nvPr/>
        </p:nvSpPr>
        <p:spPr>
          <a:xfrm xmlns:a="http://schemas.openxmlformats.org/drawingml/2006/main">
            <a:off x="628650" y="1333500"/>
            <a:ext cx="10896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CB9CD"/>
                </a:solidFill>
                <a:latin typeface="Arial"/>
                <a:ea typeface="Arial"/>
                <a:cs typeface="Arial"/>
              </a:defRPr>
            </a:pPr>
            <a:r>
              <a:rPr sz="1875" b="0">
                <a:solidFill>
                  <a:srgbClr val="ACB9CD"/>
                </a:solidFill>
                <a:latin typeface="Arial"/>
                <a:ea typeface="Arial"/>
                <a:cs typeface="Arial"/>
              </a:rPr>
              <a:t>Permission, eligibility and exact review travel with the task.</a:t>
            </a:r>
          </a:p>
        </p:txBody>
      </p:sp>
      <p:sp>
        <p:nvSpPr>
          <p:cNvPr id="3" name="">
            <a:extLst xmlns:a="http://schemas.openxmlformats.org/drawingml/2006/main">
              <a:ext uri="{FF2B5EF4-FFF2-40B4-BE49-F238E27FC236}">
                <a16:creationId xmlns:a16="http://schemas.microsoft.com/office/drawing/2014/main" id="{129D5F3B-0025-4EBF-BCCA-5F660DEEC4A6}"/>
              </a:ext>
            </a:extLst>
          </p:cNvPr>
          <p:cNvSpPr>
            <a:spLocks xmlns:a="http://schemas.openxmlformats.org/drawingml/2006/main" noGrp="1"/>
          </p:cNvSpPr>
          <p:nvPr/>
        </p:nvSpPr>
        <p:spPr>
          <a:xfrm xmlns:a="http://schemas.openxmlformats.org/drawingml/2006/main">
            <a:off x="62865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CB9CD"/>
                </a:solidFill>
                <a:latin typeface="Arial"/>
                <a:ea typeface="Arial"/>
                <a:cs typeface="Arial"/>
              </a:defRPr>
            </a:pPr>
            <a:r>
              <a:rPr sz="1200" b="0">
                <a:solidFill>
                  <a:srgbClr val="ACB9CD"/>
                </a:solidFill>
                <a:latin typeface="Arial"/>
                <a:ea typeface="Arial"/>
                <a:cs typeface="Arial"/>
              </a:rPr>
              <a:t>STORYBOARD REVIEW · 07</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d60ec7011272426f"/>
          <a:stretch xmlns:a="http://schemas.openxmlformats.org/drawingml/2006/main"/>
        </p:blipFill>
        <p:spPr>
          <a:xfrm xmlns:a="http://schemas.openxmlformats.org/drawingml/2006/main">
            <a:off x="983492" y="2219325"/>
            <a:ext cx="2900291" cy="35718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F224FFB-34BE-4C4B-BD0A-B26006BE51E2}"/>
              </a:ext>
            </a:extLst>
          </p:cNvPr>
          <p:cNvSpPr>
            <a:spLocks xmlns:a="http://schemas.openxmlformats.org/drawingml/2006/main" noGrp="1"/>
          </p:cNvSpPr>
          <p:nvPr/>
        </p:nvSpPr>
        <p:spPr>
          <a:xfrm xmlns:a="http://schemas.openxmlformats.org/drawingml/2006/main">
            <a:off x="4762500" y="2066925"/>
            <a:ext cx="6648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91BAFF"/>
                </a:solidFill>
                <a:latin typeface="Arial"/>
                <a:ea typeface="Arial"/>
                <a:cs typeface="Arial"/>
              </a:defRPr>
            </a:pPr>
            <a:r>
              <a:rPr sz="2400" b="1">
                <a:solidFill>
                  <a:srgbClr val="91BAFF"/>
                </a:solidFill>
                <a:latin typeface="Arial"/>
                <a:ea typeface="Arial"/>
                <a:cs typeface="Arial"/>
              </a:rPr>
              <a:t>Off by default</a:t>
            </a:r>
          </a:p>
        </p:txBody>
      </p:sp>
      <p:sp>
        <p:nvSpPr>
          <p:cNvPr id="6" name="">
            <a:extLst xmlns:a="http://schemas.openxmlformats.org/drawingml/2006/main">
              <a:ext uri="{FF2B5EF4-FFF2-40B4-BE49-F238E27FC236}">
                <a16:creationId xmlns:a16="http://schemas.microsoft.com/office/drawing/2014/main" id="{A487189D-B059-4232-B8DF-A0146742FC0B}"/>
              </a:ext>
            </a:extLst>
          </p:cNvPr>
          <p:cNvSpPr>
            <a:spLocks xmlns:a="http://schemas.openxmlformats.org/drawingml/2006/main" noGrp="1"/>
          </p:cNvSpPr>
          <p:nvPr/>
        </p:nvSpPr>
        <p:spPr>
          <a:xfrm xmlns:a="http://schemas.openxmlformats.org/drawingml/2006/main">
            <a:off x="4762500" y="2514600"/>
            <a:ext cx="6648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6FC"/>
                </a:solidFill>
                <a:latin typeface="Arial"/>
                <a:ea typeface="Arial"/>
                <a:cs typeface="Arial"/>
              </a:defRPr>
            </a:pPr>
            <a:r>
              <a:rPr sz="1875" b="0">
                <a:solidFill>
                  <a:srgbClr val="F3F6FC"/>
                </a:solidFill>
                <a:latin typeface="Arial"/>
                <a:ea typeface="Arial"/>
                <a:cs typeface="Arial"/>
              </a:rPr>
              <a:t>Optional notifications require consent.</a:t>
            </a:r>
          </a:p>
        </p:txBody>
      </p:sp>
      <p:sp>
        <p:nvSpPr>
          <p:cNvPr id="7" name="">
            <a:extLst xmlns:a="http://schemas.openxmlformats.org/drawingml/2006/main">
              <a:ext uri="{FF2B5EF4-FFF2-40B4-BE49-F238E27FC236}">
                <a16:creationId xmlns:a16="http://schemas.microsoft.com/office/drawing/2014/main" id="{F58F6C16-7817-457E-8CEA-3157ECBAE2F4}"/>
              </a:ext>
            </a:extLst>
          </p:cNvPr>
          <p:cNvSpPr>
            <a:spLocks xmlns:a="http://schemas.openxmlformats.org/drawingml/2006/main" noGrp="1"/>
          </p:cNvSpPr>
          <p:nvPr/>
        </p:nvSpPr>
        <p:spPr>
          <a:xfrm xmlns:a="http://schemas.openxmlformats.org/drawingml/2006/main">
            <a:off x="4762500" y="3067050"/>
            <a:ext cx="6648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91BAFF"/>
                </a:solidFill>
                <a:latin typeface="Arial"/>
                <a:ea typeface="Arial"/>
                <a:cs typeface="Arial"/>
              </a:defRPr>
            </a:pPr>
            <a:r>
              <a:rPr sz="2400" b="1">
                <a:solidFill>
                  <a:srgbClr val="91BAFF"/>
                </a:solidFill>
                <a:latin typeface="Arial"/>
                <a:ea typeface="Arial"/>
                <a:cs typeface="Arial"/>
              </a:rPr>
              <a:t>22:00–08:00</a:t>
            </a:r>
          </a:p>
        </p:txBody>
      </p:sp>
      <p:sp>
        <p:nvSpPr>
          <p:cNvPr id="8" name="">
            <a:extLst xmlns:a="http://schemas.openxmlformats.org/drawingml/2006/main">
              <a:ext uri="{FF2B5EF4-FFF2-40B4-BE49-F238E27FC236}">
                <a16:creationId xmlns:a16="http://schemas.microsoft.com/office/drawing/2014/main" id="{3E74E3AF-0F98-4D99-BE98-417E060E8E4E}"/>
              </a:ext>
            </a:extLst>
          </p:cNvPr>
          <p:cNvSpPr>
            <a:spLocks xmlns:a="http://schemas.openxmlformats.org/drawingml/2006/main" noGrp="1"/>
          </p:cNvSpPr>
          <p:nvPr/>
        </p:nvSpPr>
        <p:spPr>
          <a:xfrm xmlns:a="http://schemas.openxmlformats.org/drawingml/2006/main">
            <a:off x="4762500" y="3514725"/>
            <a:ext cx="6648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6FC"/>
                </a:solidFill>
                <a:latin typeface="Arial"/>
                <a:ea typeface="Arial"/>
                <a:cs typeface="Arial"/>
              </a:defRPr>
            </a:pPr>
            <a:r>
              <a:rPr sz="1875" b="0">
                <a:solidFill>
                  <a:srgbClr val="F3F6FC"/>
                </a:solidFill>
                <a:latin typeface="Arial"/>
                <a:ea typeface="Arial"/>
                <a:cs typeface="Arial"/>
              </a:rPr>
              <a:t>Device-local quiet hours.</a:t>
            </a:r>
          </a:p>
        </p:txBody>
      </p:sp>
      <p:sp>
        <p:nvSpPr>
          <p:cNvPr id="9" name="">
            <a:extLst xmlns:a="http://schemas.openxmlformats.org/drawingml/2006/main">
              <a:ext uri="{FF2B5EF4-FFF2-40B4-BE49-F238E27FC236}">
                <a16:creationId xmlns:a16="http://schemas.microsoft.com/office/drawing/2014/main" id="{1785A476-816B-4BB5-A39D-982371100133}"/>
              </a:ext>
            </a:extLst>
          </p:cNvPr>
          <p:cNvSpPr>
            <a:spLocks xmlns:a="http://schemas.openxmlformats.org/drawingml/2006/main" noGrp="1"/>
          </p:cNvSpPr>
          <p:nvPr/>
        </p:nvSpPr>
        <p:spPr>
          <a:xfrm xmlns:a="http://schemas.openxmlformats.org/drawingml/2006/main">
            <a:off x="4762500" y="4067175"/>
            <a:ext cx="6648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91BAFF"/>
                </a:solidFill>
                <a:latin typeface="Arial"/>
                <a:ea typeface="Arial"/>
                <a:cs typeface="Arial"/>
              </a:defRPr>
            </a:pPr>
            <a:r>
              <a:rPr sz="2400" b="1">
                <a:solidFill>
                  <a:srgbClr val="91BAFF"/>
                </a:solidFill>
                <a:latin typeface="Arial"/>
                <a:ea typeface="Arial"/>
                <a:cs typeface="Arial"/>
              </a:rPr>
              <a:t>3 per day · 60-minute gap</a:t>
            </a:r>
          </a:p>
        </p:txBody>
      </p:sp>
      <p:sp>
        <p:nvSpPr>
          <p:cNvPr id="10" name="">
            <a:extLst xmlns:a="http://schemas.openxmlformats.org/drawingml/2006/main">
              <a:ext uri="{FF2B5EF4-FFF2-40B4-BE49-F238E27FC236}">
                <a16:creationId xmlns:a16="http://schemas.microsoft.com/office/drawing/2014/main" id="{D0A34729-93B4-43D7-9F8C-9652A1CDAD28}"/>
              </a:ext>
            </a:extLst>
          </p:cNvPr>
          <p:cNvSpPr>
            <a:spLocks xmlns:a="http://schemas.openxmlformats.org/drawingml/2006/main" noGrp="1"/>
          </p:cNvSpPr>
          <p:nvPr/>
        </p:nvSpPr>
        <p:spPr>
          <a:xfrm xmlns:a="http://schemas.openxmlformats.org/drawingml/2006/main">
            <a:off x="4762500" y="4514850"/>
            <a:ext cx="6648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6FC"/>
                </a:solidFill>
                <a:latin typeface="Arial"/>
                <a:ea typeface="Arial"/>
                <a:cs typeface="Arial"/>
              </a:defRPr>
            </a:pPr>
            <a:r>
              <a:rPr sz="1875" b="0">
                <a:solidFill>
                  <a:srgbClr val="F3F6FC"/>
                </a:solidFill>
                <a:latin typeface="Arial"/>
                <a:ea typeface="Arial"/>
                <a:cs typeface="Arial"/>
              </a:rPr>
              <a:t>Proposed demo defaults.</a:t>
            </a:r>
          </a:p>
        </p:txBody>
      </p:sp>
      <p:sp>
        <p:nvSpPr>
          <p:cNvPr id="11" name="">
            <a:extLst xmlns:a="http://schemas.openxmlformats.org/drawingml/2006/main">
              <a:ext uri="{FF2B5EF4-FFF2-40B4-BE49-F238E27FC236}">
                <a16:creationId xmlns:a16="http://schemas.microsoft.com/office/drawing/2014/main" id="{8F099589-198A-4EF1-9161-30DF643C03BC}"/>
              </a:ext>
            </a:extLst>
          </p:cNvPr>
          <p:cNvSpPr>
            <a:spLocks xmlns:a="http://schemas.openxmlformats.org/drawingml/2006/main" noGrp="1"/>
          </p:cNvSpPr>
          <p:nvPr/>
        </p:nvSpPr>
        <p:spPr>
          <a:xfrm xmlns:a="http://schemas.openxmlformats.org/drawingml/2006/main">
            <a:off x="4762500" y="5067300"/>
            <a:ext cx="6648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91BAFF"/>
                </a:solidFill>
                <a:latin typeface="Arial"/>
                <a:ea typeface="Arial"/>
                <a:cs typeface="Arial"/>
              </a:defRPr>
            </a:pPr>
            <a:r>
              <a:rPr sz="2400" b="1">
                <a:solidFill>
                  <a:srgbClr val="91BAFF"/>
                </a:solidFill>
                <a:latin typeface="Arial"/>
                <a:ea typeface="Arial"/>
                <a:cs typeface="Arial"/>
              </a:rPr>
              <a:t>Explicit confirmation</a:t>
            </a:r>
          </a:p>
        </p:txBody>
      </p:sp>
      <p:sp>
        <p:nvSpPr>
          <p:cNvPr id="12" name="">
            <a:extLst xmlns:a="http://schemas.openxmlformats.org/drawingml/2006/main">
              <a:ext uri="{FF2B5EF4-FFF2-40B4-BE49-F238E27FC236}">
                <a16:creationId xmlns:a16="http://schemas.microsoft.com/office/drawing/2014/main" id="{2801841A-7817-4220-819F-F7D77F340841}"/>
              </a:ext>
            </a:extLst>
          </p:cNvPr>
          <p:cNvSpPr>
            <a:spLocks xmlns:a="http://schemas.openxmlformats.org/drawingml/2006/main" noGrp="1"/>
          </p:cNvSpPr>
          <p:nvPr/>
        </p:nvSpPr>
        <p:spPr>
          <a:xfrm xmlns:a="http://schemas.openxmlformats.org/drawingml/2006/main">
            <a:off x="4762500" y="5514975"/>
            <a:ext cx="6648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6FC"/>
                </a:solidFill>
                <a:latin typeface="Arial"/>
                <a:ea typeface="Arial"/>
                <a:cs typeface="Arial"/>
              </a:defRPr>
            </a:pPr>
            <a:r>
              <a:rPr sz="1875" b="0">
                <a:solidFill>
                  <a:srgbClr val="F3F6FC"/>
                </a:solidFill>
                <a:latin typeface="Arial"/>
                <a:ea typeface="Arial"/>
                <a:cs typeface="Arial"/>
              </a:rPr>
              <a:t>Voice cannot override eligibility.</a:t>
            </a:r>
          </a:p>
        </p:txBody>
      </p:sp>
    </p:spTree>
    <p:extLst>
      <p:ext uri="{BB962C8B-B14F-4D97-AF65-F5344CB8AC3E}">
        <p14:creationId xmlns:p14="http://schemas.microsoft.com/office/powerpoint/2010/main" val="959571326"/>
      </p:ext>
    </p:extLst>
  </p:cSld>
</p:sld>
</file>

<file path=ppt/slides/slide8.xml><?xml version="1.0" encoding="utf-8"?>
<p:sld xmlns:p="http://schemas.openxmlformats.org/presentationml/2006/main">
  <p:cSld>
    <p:bg>
      <p:bgPr>
        <a:solidFill xmlns:a="http://schemas.openxmlformats.org/drawingml/2006/main">
          <a:srgbClr val="10151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EA56F62-DB6B-4718-A5F1-BB59C332B9FC}"/>
              </a:ext>
            </a:extLst>
          </p:cNvPr>
          <p:cNvSpPr>
            <a:spLocks xmlns:a="http://schemas.openxmlformats.org/drawingml/2006/main" noGrp="1"/>
          </p:cNvSpPr>
          <p:nvPr/>
        </p:nvSpPr>
        <p:spPr>
          <a:xfrm xmlns:a="http://schemas.openxmlformats.org/drawingml/2006/main">
            <a:off x="609600" y="495300"/>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3F6FC"/>
                </a:solidFill>
                <a:latin typeface="Arial"/>
                <a:ea typeface="Arial"/>
                <a:cs typeface="Arial"/>
              </a:defRPr>
            </a:pPr>
            <a:r>
              <a:rPr sz="3600" b="1">
                <a:solidFill>
                  <a:srgbClr val="F3F6FC"/>
                </a:solidFill>
                <a:latin typeface="Arial"/>
                <a:ea typeface="Arial"/>
                <a:cs typeface="Arial"/>
              </a:rPr>
              <a:t>The next screens</a:t>
            </a:r>
          </a:p>
        </p:txBody>
      </p:sp>
      <p:sp>
        <p:nvSpPr>
          <p:cNvPr id="2" name="">
            <a:extLst xmlns:a="http://schemas.openxmlformats.org/drawingml/2006/main">
              <a:ext uri="{FF2B5EF4-FFF2-40B4-BE49-F238E27FC236}">
                <a16:creationId xmlns:a16="http://schemas.microsoft.com/office/drawing/2014/main" id="{E9085335-6A4D-4229-BA36-AEE22AD75127}"/>
              </a:ext>
            </a:extLst>
          </p:cNvPr>
          <p:cNvSpPr>
            <a:spLocks xmlns:a="http://schemas.openxmlformats.org/drawingml/2006/main" noGrp="1"/>
          </p:cNvSpPr>
          <p:nvPr/>
        </p:nvSpPr>
        <p:spPr>
          <a:xfrm xmlns:a="http://schemas.openxmlformats.org/drawingml/2006/main">
            <a:off x="628650" y="1333500"/>
            <a:ext cx="10896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CB9CD"/>
                </a:solidFill>
                <a:latin typeface="Arial"/>
                <a:ea typeface="Arial"/>
                <a:cs typeface="Arial"/>
              </a:defRPr>
            </a:pPr>
            <a:r>
              <a:rPr sz="1875" b="0">
                <a:solidFill>
                  <a:srgbClr val="ACB9CD"/>
                </a:solidFill>
                <a:latin typeface="Arial"/>
                <a:ea typeface="Arial"/>
                <a:cs typeface="Arial"/>
              </a:rPr>
              <a:t>A smaller glance. A larger workspace. The same chosen task.</a:t>
            </a:r>
          </a:p>
        </p:txBody>
      </p:sp>
      <p:sp>
        <p:nvSpPr>
          <p:cNvPr id="3" name="">
            <a:extLst xmlns:a="http://schemas.openxmlformats.org/drawingml/2006/main">
              <a:ext uri="{FF2B5EF4-FFF2-40B4-BE49-F238E27FC236}">
                <a16:creationId xmlns:a16="http://schemas.microsoft.com/office/drawing/2014/main" id="{5514D8EB-7426-4D55-90D8-722D76C7500F}"/>
              </a:ext>
            </a:extLst>
          </p:cNvPr>
          <p:cNvSpPr>
            <a:spLocks xmlns:a="http://schemas.openxmlformats.org/drawingml/2006/main" noGrp="1"/>
          </p:cNvSpPr>
          <p:nvPr/>
        </p:nvSpPr>
        <p:spPr>
          <a:xfrm xmlns:a="http://schemas.openxmlformats.org/drawingml/2006/main">
            <a:off x="62865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CB9CD"/>
                </a:solidFill>
                <a:latin typeface="Arial"/>
                <a:ea typeface="Arial"/>
                <a:cs typeface="Arial"/>
              </a:defRPr>
            </a:pPr>
            <a:r>
              <a:rPr sz="1200" b="0">
                <a:solidFill>
                  <a:srgbClr val="ACB9CD"/>
                </a:solidFill>
                <a:latin typeface="Arial"/>
                <a:ea typeface="Arial"/>
                <a:cs typeface="Arial"/>
              </a:rPr>
              <a:t>STORYBOARD REVIEW · 08</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6a338c02cbe749f2"/>
          <a:stretch xmlns:a="http://schemas.openxmlformats.org/drawingml/2006/main"/>
        </p:blipFill>
        <p:spPr>
          <a:xfrm xmlns:a="http://schemas.openxmlformats.org/drawingml/2006/main">
            <a:off x="509350" y="2095500"/>
            <a:ext cx="5077301" cy="2857500"/>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5b670bc67c864822"/>
          <a:stretch xmlns:a="http://schemas.openxmlformats.org/drawingml/2006/main"/>
        </p:blipFill>
        <p:spPr>
          <a:xfrm xmlns:a="http://schemas.openxmlformats.org/drawingml/2006/main">
            <a:off x="6605350" y="2095500"/>
            <a:ext cx="5077301" cy="2857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C27C094-6803-4E8E-9E6E-F6C590D8F662}"/>
              </a:ext>
            </a:extLst>
          </p:cNvPr>
          <p:cNvSpPr>
            <a:spLocks xmlns:a="http://schemas.openxmlformats.org/drawingml/2006/main" noGrp="1"/>
          </p:cNvSpPr>
          <p:nvPr/>
        </p:nvSpPr>
        <p:spPr>
          <a:xfrm xmlns:a="http://schemas.openxmlformats.org/drawingml/2006/main">
            <a:off x="638175" y="5114925"/>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91BAFF"/>
                </a:solidFill>
                <a:latin typeface="Arial"/>
                <a:ea typeface="Arial"/>
                <a:cs typeface="Arial"/>
              </a:defRPr>
            </a:pPr>
            <a:r>
              <a:rPr sz="1875" b="1">
                <a:solidFill>
                  <a:srgbClr val="91BAFF"/>
                </a:solidFill>
                <a:latin typeface="Arial"/>
                <a:ea typeface="Arial"/>
                <a:cs typeface="Arial"/>
              </a:rPr>
              <a:t>WATCH CONCEPT · not built</a:t>
            </a:r>
          </a:p>
        </p:txBody>
      </p:sp>
      <p:sp>
        <p:nvSpPr>
          <p:cNvPr id="7" name="">
            <a:extLst xmlns:a="http://schemas.openxmlformats.org/drawingml/2006/main">
              <a:ext uri="{FF2B5EF4-FFF2-40B4-BE49-F238E27FC236}">
                <a16:creationId xmlns:a16="http://schemas.microsoft.com/office/drawing/2014/main" id="{958B81C8-06EF-4329-AD64-29AFDBC9BFF4}"/>
              </a:ext>
            </a:extLst>
          </p:cNvPr>
          <p:cNvSpPr>
            <a:spLocks xmlns:a="http://schemas.openxmlformats.org/drawingml/2006/main" noGrp="1"/>
          </p:cNvSpPr>
          <p:nvPr/>
        </p:nvSpPr>
        <p:spPr>
          <a:xfrm xmlns:a="http://schemas.openxmlformats.org/drawingml/2006/main">
            <a:off x="6553200" y="5114925"/>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91BAFF"/>
                </a:solidFill>
                <a:latin typeface="Arial"/>
                <a:ea typeface="Arial"/>
                <a:cs typeface="Arial"/>
              </a:defRPr>
            </a:pPr>
            <a:r>
              <a:rPr sz="1875" b="1">
                <a:solidFill>
                  <a:srgbClr val="91BAFF"/>
                </a:solidFill>
                <a:latin typeface="Arial"/>
                <a:ea typeface="Arial"/>
                <a:cs typeface="Arial"/>
              </a:rPr>
              <a:t>MAC CONCEPT · not built</a:t>
            </a:r>
          </a:p>
        </p:txBody>
      </p:sp>
      <p:sp>
        <p:nvSpPr>
          <p:cNvPr id="8" name="">
            <a:extLst xmlns:a="http://schemas.openxmlformats.org/drawingml/2006/main">
              <a:ext uri="{FF2B5EF4-FFF2-40B4-BE49-F238E27FC236}">
                <a16:creationId xmlns:a16="http://schemas.microsoft.com/office/drawing/2014/main" id="{F97186BF-9E3D-4F5C-A8C2-171B73296508}"/>
              </a:ext>
            </a:extLst>
          </p:cNvPr>
          <p:cNvSpPr>
            <a:spLocks xmlns:a="http://schemas.openxmlformats.org/drawingml/2006/main" noGrp="1"/>
          </p:cNvSpPr>
          <p:nvPr/>
        </p:nvSpPr>
        <p:spPr>
          <a:xfrm xmlns:a="http://schemas.openxmlformats.org/drawingml/2006/main">
            <a:off x="628650" y="5753100"/>
            <a:ext cx="1085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F3F6FC"/>
                </a:solidFill>
                <a:latin typeface="Arial"/>
                <a:ea typeface="Arial"/>
                <a:cs typeface="Arial"/>
              </a:defRPr>
            </a:pPr>
            <a:r>
              <a:rPr sz="2175" b="1">
                <a:solidFill>
                  <a:srgbClr val="F3F6FC"/>
                </a:solidFill>
                <a:latin typeface="Arial"/>
                <a:ea typeface="Arial"/>
                <a:cs typeface="Arial"/>
              </a:rPr>
              <a:t>A 30-day FEG pilot. An integration owner. Agreed success measures.</a:t>
            </a:r>
          </a:p>
        </p:txBody>
      </p:sp>
    </p:spTree>
    <p:extLst>
      <p:ext uri="{BB962C8B-B14F-4D97-AF65-F5344CB8AC3E}">
        <p14:creationId xmlns:p14="http://schemas.microsoft.com/office/powerpoint/2010/main" val="73331579"/>
      </p:ext>
    </p:extLst>
  </p:cSld>
</p:sld>
</file>

<file path=ppt/slides/slide9.xml><?xml version="1.0" encoding="utf-8"?>
<p:sld xmlns:p="http://schemas.openxmlformats.org/presentationml/2006/main">
  <p:cSld>
    <p:bg>
      <p:bgPr>
        <a:solidFill xmlns:a="http://schemas.openxmlformats.org/drawingml/2006/main">
          <a:srgbClr val="10151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9F95C9E-5594-4301-8F6B-88FEDF2AF399}"/>
              </a:ext>
            </a:extLst>
          </p:cNvPr>
          <p:cNvSpPr>
            <a:spLocks xmlns:a="http://schemas.openxmlformats.org/drawingml/2006/main" noGrp="1"/>
          </p:cNvSpPr>
          <p:nvPr/>
        </p:nvSpPr>
        <p:spPr>
          <a:xfrm xmlns:a="http://schemas.openxmlformats.org/drawingml/2006/main">
            <a:off x="609600" y="495300"/>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3F6FC"/>
                </a:solidFill>
                <a:latin typeface="Arial"/>
                <a:ea typeface="Arial"/>
                <a:cs typeface="Arial"/>
              </a:defRPr>
            </a:pPr>
            <a:r>
              <a:rPr sz="3600" b="1">
                <a:solidFill>
                  <a:srgbClr val="F3F6FC"/>
                </a:solidFill>
                <a:latin typeface="Arial"/>
                <a:ea typeface="Arial"/>
                <a:cs typeface="Arial"/>
              </a:rPr>
              <a:t>Technical evidence</a:t>
            </a:r>
          </a:p>
        </p:txBody>
      </p:sp>
      <p:sp>
        <p:nvSpPr>
          <p:cNvPr id="2" name="">
            <a:extLst xmlns:a="http://schemas.openxmlformats.org/drawingml/2006/main">
              <a:ext uri="{FF2B5EF4-FFF2-40B4-BE49-F238E27FC236}">
                <a16:creationId xmlns:a16="http://schemas.microsoft.com/office/drawing/2014/main" id="{B58CC3DE-3625-4429-B853-CEFB3E74DAC2}"/>
              </a:ext>
            </a:extLst>
          </p:cNvPr>
          <p:cNvSpPr>
            <a:spLocks xmlns:a="http://schemas.openxmlformats.org/drawingml/2006/main" noGrp="1"/>
          </p:cNvSpPr>
          <p:nvPr/>
        </p:nvSpPr>
        <p:spPr>
          <a:xfrm xmlns:a="http://schemas.openxmlformats.org/drawingml/2006/main">
            <a:off x="628650" y="1333500"/>
            <a:ext cx="10896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CB9CD"/>
                </a:solidFill>
                <a:latin typeface="Arial"/>
                <a:ea typeface="Arial"/>
                <a:cs typeface="Arial"/>
              </a:defRPr>
            </a:pPr>
            <a:r>
              <a:rPr sz="1875" b="0">
                <a:solidFill>
                  <a:srgbClr val="ACB9CD"/>
                </a:solidFill>
                <a:latin typeface="Arial"/>
                <a:ea typeface="Arial"/>
                <a:cs typeface="Arial"/>
              </a:rPr>
              <a:t>What is demonstrated — and what still needs inspection.</a:t>
            </a:r>
          </a:p>
        </p:txBody>
      </p:sp>
      <p:sp>
        <p:nvSpPr>
          <p:cNvPr id="3" name="">
            <a:extLst xmlns:a="http://schemas.openxmlformats.org/drawingml/2006/main">
              <a:ext uri="{FF2B5EF4-FFF2-40B4-BE49-F238E27FC236}">
                <a16:creationId xmlns:a16="http://schemas.microsoft.com/office/drawing/2014/main" id="{E6C5680F-902A-4E73-97BF-73D7513AD6E6}"/>
              </a:ext>
            </a:extLst>
          </p:cNvPr>
          <p:cNvSpPr>
            <a:spLocks xmlns:a="http://schemas.openxmlformats.org/drawingml/2006/main" noGrp="1"/>
          </p:cNvSpPr>
          <p:nvPr/>
        </p:nvSpPr>
        <p:spPr>
          <a:xfrm xmlns:a="http://schemas.openxmlformats.org/drawingml/2006/main">
            <a:off x="62865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CB9CD"/>
                </a:solidFill>
                <a:latin typeface="Arial"/>
                <a:ea typeface="Arial"/>
                <a:cs typeface="Arial"/>
              </a:defRPr>
            </a:pPr>
            <a:r>
              <a:rPr sz="1200" b="0">
                <a:solidFill>
                  <a:srgbClr val="ACB9CD"/>
                </a:solidFill>
                <a:latin typeface="Arial"/>
                <a:ea typeface="Arial"/>
                <a:cs typeface="Arial"/>
              </a:rPr>
              <a:t>STORYBOARD REVIEW · 09</a:t>
            </a:r>
          </a:p>
        </p:txBody>
      </p:sp>
      <p:graphicFrame>
        <p:nvGraphicFramePr>
          <p:cNvPr id="9" name=""/>
          <p:cNvGraphicFramePr/>
          <p:nvPr/>
        </p:nvGraphicFramePr>
        <p:xfrm>
          <a:off xmlns:a="http://schemas.openxmlformats.org/drawingml/2006/main" x="628650" y="2143125"/>
          <a:ext xmlns:a="http://schemas.openxmlformats.org/drawingml/2006/main" cx="10896600" cy="3543300"/>
        </p:xfrm>
        <a:graphic xmlns:a="http://schemas.openxmlformats.org/drawingml/2006/main">
          <a:graphicData uri="http://schemas.openxmlformats.org/drawingml/2006/table">
            <a:tbl>
              <a:tblPr/>
              <a:tblGrid>
                <a:gridCol w="4772025"/>
                <a:gridCol w="6124575"/>
              </a:tblGrid>
              <a:tr h="590550">
                <a:tc>
                  <a:txBody>
                    <a:bodyPr>
                      <a:noAutofit/>
                    </a:bodyPr>
                    <a:lstStyle/>
                    <a:p>
                      <a:r>
                        <a:rPr sz="1800" b="1">
                          <a:solidFill>
                            <a:srgbClr val="F3F6FC"/>
                          </a:solidFill>
                          <a:latin typeface="Arial"/>
                          <a:ea typeface="Arial"/>
                          <a:cs typeface="Arial"/>
                        </a:rPr>
                        <a:t>Evidence</a:t>
                      </a:r>
                    </a:p>
                  </a:txBody>
                  <a:tcPr marL="91440" marR="91440" marT="45720" marB="45720">
                    <a:solidFill>
                      <a:srgbClr val="2563EB"/>
                    </a:solidFill>
                  </a:tcPr>
                </a:tc>
                <a:tc>
                  <a:txBody>
                    <a:bodyPr>
                      <a:noAutofit/>
                    </a:bodyPr>
                    <a:lstStyle/>
                    <a:p>
                      <a:r>
                        <a:rPr sz="1800" b="1">
                          <a:solidFill>
                            <a:srgbClr val="F3F6FC"/>
                          </a:solidFill>
                          <a:latin typeface="Arial"/>
                          <a:ea typeface="Arial"/>
                          <a:cs typeface="Arial"/>
                        </a:rPr>
                        <a:t>Checkpoint</a:t>
                      </a:r>
                    </a:p>
                  </a:txBody>
                  <a:tcPr marL="91440" marR="91440" marT="45720" marB="45720">
                    <a:solidFill>
                      <a:srgbClr val="2563EB"/>
                    </a:solidFill>
                  </a:tcPr>
                </a:tc>
              </a:tr>
              <a:tr h="590550">
                <a:tc>
                  <a:txBody>
                    <a:bodyPr>
                      <a:noAutofit/>
                    </a:bodyPr>
                    <a:lstStyle/>
                    <a:p>
                      <a:r>
                        <a:rPr sz="1800" b="1">
                          <a:solidFill>
                            <a:srgbClr val="F3F6FC"/>
                          </a:solidFill>
                          <a:latin typeface="Arial"/>
                          <a:ea typeface="Arial"/>
                          <a:cs typeface="Arial"/>
                        </a:rPr>
                        <a:t>Shared action + guardrail tests</a:t>
                      </a:r>
                    </a:p>
                  </a:txBody>
                  <a:tcPr marL="91440" marR="91440" marT="45720" marB="45720">
                    <a:solidFill>
                      <a:srgbClr val="1A2230"/>
                    </a:solidFill>
                  </a:tcPr>
                </a:tc>
                <a:tc>
                  <a:txBody>
                    <a:bodyPr>
                      <a:noAutofit/>
                    </a:bodyPr>
                    <a:lstStyle/>
                    <a:p>
                      <a:r>
                        <a:rPr sz="1800" b="0">
                          <a:solidFill>
                            <a:srgbClr val="F3F6FC"/>
                          </a:solidFill>
                          <a:latin typeface="Arial"/>
                          <a:ea typeface="Arial"/>
                          <a:cs typeface="Arial"/>
                        </a:rPr>
                        <a:t>34 passing backend tests</a:t>
                      </a:r>
                    </a:p>
                  </a:txBody>
                  <a:tcPr marL="91440" marR="91440" marT="45720" marB="45720">
                    <a:solidFill>
                      <a:srgbClr val="1A2230"/>
                    </a:solidFill>
                  </a:tcPr>
                </a:tc>
              </a:tr>
              <a:tr h="590550">
                <a:tc>
                  <a:txBody>
                    <a:bodyPr>
                      <a:noAutofit/>
                    </a:bodyPr>
                    <a:lstStyle/>
                    <a:p>
                      <a:r>
                        <a:rPr sz="1800" b="1">
                          <a:solidFill>
                            <a:srgbClr val="F3F6FC"/>
                          </a:solidFill>
                          <a:latin typeface="Arial"/>
                          <a:ea typeface="Arial"/>
                          <a:cs typeface="Arial"/>
                        </a:rPr>
                        <a:t>Sample-only local and Edge feed</a:t>
                      </a:r>
                    </a:p>
                  </a:txBody>
                  <a:tcPr marL="91440" marR="91440" marT="45720" marB="45720">
                    <a:solidFill>
                      <a:srgbClr val="10151E"/>
                    </a:solidFill>
                  </a:tcPr>
                </a:tc>
                <a:tc>
                  <a:txBody>
                    <a:bodyPr>
                      <a:noAutofit/>
                    </a:bodyPr>
                    <a:lstStyle/>
                    <a:p>
                      <a:r>
                        <a:rPr sz="1800" b="0">
                          <a:solidFill>
                            <a:srgbClr val="F3F6FC"/>
                          </a:solidFill>
                          <a:latin typeface="Arial"/>
                          <a:ea typeface="Arial"/>
                          <a:cs typeface="Arial"/>
                        </a:rPr>
                        <a:t>Deployed Edge version 14</a:t>
                      </a:r>
                    </a:p>
                  </a:txBody>
                  <a:tcPr marL="91440" marR="91440" marT="45720" marB="45720">
                    <a:solidFill>
                      <a:srgbClr val="10151E"/>
                    </a:solidFill>
                  </a:tcPr>
                </a:tc>
              </a:tr>
              <a:tr h="590550">
                <a:tc>
                  <a:txBody>
                    <a:bodyPr>
                      <a:noAutofit/>
                    </a:bodyPr>
                    <a:lstStyle/>
                    <a:p>
                      <a:r>
                        <a:rPr sz="1800" b="1">
                          <a:solidFill>
                            <a:srgbClr val="F3F6FC"/>
                          </a:solidFill>
                          <a:latin typeface="Arial"/>
                          <a:ea typeface="Arial"/>
                          <a:cs typeface="Arial"/>
                        </a:rPr>
                        <a:t>Native recording</a:t>
                      </a:r>
                    </a:p>
                  </a:txBody>
                  <a:tcPr marL="91440" marR="91440" marT="45720" marB="45720">
                    <a:solidFill>
                      <a:srgbClr val="1A2230"/>
                    </a:solidFill>
                  </a:tcPr>
                </a:tc>
                <a:tc>
                  <a:txBody>
                    <a:bodyPr>
                      <a:noAutofit/>
                    </a:bodyPr>
                    <a:lstStyle/>
                    <a:p>
                      <a:r>
                        <a:rPr sz="1800" b="0">
                          <a:solidFill>
                            <a:srgbClr val="F3F6FC"/>
                          </a:solidFill>
                          <a:latin typeface="Arial"/>
                          <a:ea typeface="Arial"/>
                          <a:cs typeface="Arial"/>
                        </a:rPr>
                        <a:t>iPhone: sample flow + typed follow-up</a:t>
                      </a:r>
                    </a:p>
                  </a:txBody>
                  <a:tcPr marL="91440" marR="91440" marT="45720" marB="45720">
                    <a:solidFill>
                      <a:srgbClr val="1A2230"/>
                    </a:solidFill>
                  </a:tcPr>
                </a:tc>
              </a:tr>
              <a:tr h="590550">
                <a:tc>
                  <a:txBody>
                    <a:bodyPr>
                      <a:noAutofit/>
                    </a:bodyPr>
                    <a:lstStyle/>
                    <a:p>
                      <a:r>
                        <a:rPr sz="1800" b="1">
                          <a:solidFill>
                            <a:srgbClr val="F3F6FC"/>
                          </a:solidFill>
                          <a:latin typeface="Arial"/>
                          <a:ea typeface="Arial"/>
                          <a:cs typeface="Arial"/>
                        </a:rPr>
                        <a:t>Android</a:t>
                      </a:r>
                    </a:p>
                  </a:txBody>
                  <a:tcPr marL="91440" marR="91440" marT="45720" marB="45720">
                    <a:solidFill>
                      <a:srgbClr val="10151E"/>
                    </a:solidFill>
                  </a:tcPr>
                </a:tc>
                <a:tc>
                  <a:txBody>
                    <a:bodyPr>
                      <a:noAutofit/>
                    </a:bodyPr>
                    <a:lstStyle/>
                    <a:p>
                      <a:r>
                        <a:rPr sz="1800" b="0">
                          <a:solidFill>
                            <a:srgbClr val="F3F6FC"/>
                          </a:solidFill>
                          <a:latin typeface="Arial"/>
                          <a:ea typeface="Arial"/>
                          <a:cs typeface="Arial"/>
                        </a:rPr>
                        <a:t>Release built; emulator captures</a:t>
                      </a:r>
                    </a:p>
                  </a:txBody>
                  <a:tcPr marL="91440" marR="91440" marT="45720" marB="45720">
                    <a:solidFill>
                      <a:srgbClr val="10151E"/>
                    </a:solidFill>
                  </a:tcPr>
                </a:tc>
              </a:tr>
              <a:tr h="590550">
                <a:tc>
                  <a:txBody>
                    <a:bodyPr>
                      <a:noAutofit/>
                    </a:bodyPr>
                    <a:lstStyle/>
                    <a:p>
                      <a:r>
                        <a:rPr sz="1800" b="1">
                          <a:solidFill>
                            <a:srgbClr val="F3F6FC"/>
                          </a:solidFill>
                          <a:latin typeface="Arial"/>
                          <a:ea typeface="Arial"/>
                          <a:cs typeface="Arial"/>
                        </a:rPr>
                        <a:t>Acceptance gates</a:t>
                      </a:r>
                    </a:p>
                  </a:txBody>
                  <a:tcPr marL="91440" marR="91440" marT="45720" marB="45720">
                    <a:solidFill>
                      <a:srgbClr val="1A2230"/>
                    </a:solidFill>
                  </a:tcPr>
                </a:tc>
                <a:tc>
                  <a:txBody>
                    <a:bodyPr>
                      <a:noAutofit/>
                    </a:bodyPr>
                    <a:lstStyle/>
                    <a:p>
                      <a:r>
                        <a:rPr sz="1800" b="0">
                          <a:solidFill>
                            <a:srgbClr val="F3F6FC"/>
                          </a:solidFill>
                          <a:latin typeface="Arial"/>
                          <a:ea typeface="Arial"/>
                          <a:cs typeface="Arial"/>
                        </a:rPr>
                        <a:t>Human speech, final native QA, PowerPoint</a:t>
                      </a:r>
                    </a:p>
                  </a:txBody>
                  <a:tcPr marL="91440" marR="91440" marT="45720" marB="45720">
                    <a:solidFill>
                      <a:srgbClr val="1A2230"/>
                    </a:solidFill>
                  </a:tcPr>
                </a:tc>
              </a:tr>
            </a:tbl>
          </a:graphicData>
        </a:graphic>
      </p:graphicFrame>
      <p:sp>
        <p:nvSpPr>
          <p:cNvPr id="5" name="">
            <a:extLst xmlns:a="http://schemas.openxmlformats.org/drawingml/2006/main">
              <a:ext uri="{FF2B5EF4-FFF2-40B4-BE49-F238E27FC236}">
                <a16:creationId xmlns:a16="http://schemas.microsoft.com/office/drawing/2014/main" id="{89674302-0E1D-4419-803C-9CC4A5F44407}"/>
              </a:ext>
            </a:extLst>
          </p:cNvPr>
          <p:cNvSpPr>
            <a:spLocks xmlns:a="http://schemas.openxmlformats.org/drawingml/2006/main" noGrp="1"/>
          </p:cNvSpPr>
          <p:nvPr/>
        </p:nvSpPr>
        <p:spPr>
          <a:xfrm xmlns:a="http://schemas.openxmlformats.org/drawingml/2006/main">
            <a:off x="628650" y="5905500"/>
            <a:ext cx="10896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91BAFF"/>
                </a:solidFill>
                <a:latin typeface="Arial"/>
                <a:ea typeface="Arial"/>
                <a:cs typeface="Arial"/>
              </a:defRPr>
            </a:pPr>
            <a:r>
              <a:rPr sz="1875" b="0">
                <a:solidFill>
                  <a:srgbClr val="91BAFF"/>
                </a:solidFill>
                <a:latin typeface="Arial"/>
                <a:ea typeface="Arial"/>
                <a:cs typeface="Arial"/>
              </a:rPr>
              <a:t>Screenshots prove only the state and input method they actually show.</a:t>
            </a:r>
          </a:p>
        </p:txBody>
      </p:sp>
    </p:spTree>
    <p:extLst>
      <p:ext uri="{BB962C8B-B14F-4D97-AF65-F5344CB8AC3E}">
        <p14:creationId xmlns:p14="http://schemas.microsoft.com/office/powerpoint/2010/main" val="727432492"/>
      </p:ext>
    </p:extLst>
  </p:cSld>
</p:sld>
</file>

<file path=ppt/slides/slide10.xml><?xml version="1.0" encoding="utf-8"?>
<p:sld xmlns:p="http://schemas.openxmlformats.org/presentationml/2006/main">
  <p:cSld>
    <p:bg>
      <p:bgPr>
        <a:solidFill xmlns:a="http://schemas.openxmlformats.org/drawingml/2006/main">
          <a:srgbClr val="10151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304CFC4-773B-48A4-B4AF-EC9E3E9604ED}"/>
              </a:ext>
            </a:extLst>
          </p:cNvPr>
          <p:cNvSpPr>
            <a:spLocks xmlns:a="http://schemas.openxmlformats.org/drawingml/2006/main" noGrp="1"/>
          </p:cNvSpPr>
          <p:nvPr/>
        </p:nvSpPr>
        <p:spPr>
          <a:xfrm xmlns:a="http://schemas.openxmlformats.org/drawingml/2006/main">
            <a:off x="609600" y="495300"/>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3F6FC"/>
                </a:solidFill>
                <a:latin typeface="Arial"/>
                <a:ea typeface="Arial"/>
                <a:cs typeface="Arial"/>
              </a:defRPr>
            </a:pPr>
            <a:r>
              <a:rPr sz="3600" b="1">
                <a:solidFill>
                  <a:srgbClr val="F3F6FC"/>
                </a:solidFill>
                <a:latin typeface="Arial"/>
                <a:ea typeface="Arial"/>
                <a:cs typeface="Arial"/>
              </a:rPr>
              <a:t>Published competitor capabilities</a:t>
            </a:r>
          </a:p>
        </p:txBody>
      </p:sp>
      <p:sp>
        <p:nvSpPr>
          <p:cNvPr id="2" name="">
            <a:extLst xmlns:a="http://schemas.openxmlformats.org/drawingml/2006/main">
              <a:ext uri="{FF2B5EF4-FFF2-40B4-BE49-F238E27FC236}">
                <a16:creationId xmlns:a16="http://schemas.microsoft.com/office/drawing/2014/main" id="{586AD69D-B6B0-46B9-AC38-A14E17273525}"/>
              </a:ext>
            </a:extLst>
          </p:cNvPr>
          <p:cNvSpPr>
            <a:spLocks xmlns:a="http://schemas.openxmlformats.org/drawingml/2006/main" noGrp="1"/>
          </p:cNvSpPr>
          <p:nvPr/>
        </p:nvSpPr>
        <p:spPr>
          <a:xfrm xmlns:a="http://schemas.openxmlformats.org/drawingml/2006/main">
            <a:off x="628650" y="1333500"/>
            <a:ext cx="10896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CB9CD"/>
                </a:solidFill>
                <a:latin typeface="Arial"/>
                <a:ea typeface="Arial"/>
                <a:cs typeface="Arial"/>
              </a:defRPr>
            </a:pPr>
            <a:r>
              <a:rPr sz="1875" b="0">
                <a:solidFill>
                  <a:srgbClr val="ACB9CD"/>
                </a:solidFill>
                <a:latin typeface="Arial"/>
                <a:ea typeface="Arial"/>
                <a:cs typeface="Arial"/>
              </a:rPr>
              <a:t>The distinction is the demonstrated combination of handoff and surfaces.</a:t>
            </a:r>
          </a:p>
        </p:txBody>
      </p:sp>
      <p:sp>
        <p:nvSpPr>
          <p:cNvPr id="3" name="">
            <a:extLst xmlns:a="http://schemas.openxmlformats.org/drawingml/2006/main">
              <a:ext uri="{FF2B5EF4-FFF2-40B4-BE49-F238E27FC236}">
                <a16:creationId xmlns:a16="http://schemas.microsoft.com/office/drawing/2014/main" id="{3E34D8CF-4216-435C-862C-F47E2C270D83}"/>
              </a:ext>
            </a:extLst>
          </p:cNvPr>
          <p:cNvSpPr>
            <a:spLocks xmlns:a="http://schemas.openxmlformats.org/drawingml/2006/main" noGrp="1"/>
          </p:cNvSpPr>
          <p:nvPr/>
        </p:nvSpPr>
        <p:spPr>
          <a:xfrm xmlns:a="http://schemas.openxmlformats.org/drawingml/2006/main">
            <a:off x="62865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CB9CD"/>
                </a:solidFill>
                <a:latin typeface="Arial"/>
                <a:ea typeface="Arial"/>
                <a:cs typeface="Arial"/>
              </a:defRPr>
            </a:pPr>
            <a:r>
              <a:rPr sz="1200" b="0">
                <a:solidFill>
                  <a:srgbClr val="ACB9CD"/>
                </a:solidFill>
                <a:latin typeface="Arial"/>
                <a:ea typeface="Arial"/>
                <a:cs typeface="Arial"/>
              </a:rPr>
              <a:t>STORYBOARD REVIEW · 10</a:t>
            </a:r>
          </a:p>
        </p:txBody>
      </p:sp>
      <p:graphicFrame>
        <p:nvGraphicFramePr>
          <p:cNvPr id="9" name=""/>
          <p:cNvGraphicFramePr/>
          <p:nvPr/>
        </p:nvGraphicFramePr>
        <p:xfrm>
          <a:off xmlns:a="http://schemas.openxmlformats.org/drawingml/2006/main" x="628650" y="2133600"/>
          <a:ext xmlns:a="http://schemas.openxmlformats.org/drawingml/2006/main" cx="10896600" cy="3543300"/>
        </p:xfrm>
        <a:graphic xmlns:a="http://schemas.openxmlformats.org/drawingml/2006/main">
          <a:graphicData uri="http://schemas.openxmlformats.org/drawingml/2006/table">
            <a:tbl>
              <a:tblPr/>
              <a:tblGrid>
                <a:gridCol w="3895725"/>
                <a:gridCol w="2190750"/>
                <a:gridCol w="2190750"/>
                <a:gridCol w="2619375"/>
              </a:tblGrid>
              <a:tr h="590550">
                <a:tc>
                  <a:txBody>
                    <a:bodyPr>
                      <a:noAutofit/>
                    </a:bodyPr>
                    <a:lstStyle/>
                    <a:p>
                      <a:r>
                        <a:rPr sz="1800" b="1">
                          <a:solidFill>
                            <a:srgbClr val="F3F6FC"/>
                          </a:solidFill>
                          <a:latin typeface="Arial"/>
                          <a:ea typeface="Arial"/>
                          <a:cs typeface="Arial"/>
                        </a:rPr>
                        <a:t>Capability</a:t>
                      </a:r>
                    </a:p>
                  </a:txBody>
                  <a:tcPr marL="91440" marR="91440" marT="45720" marB="45720">
                    <a:solidFill>
                      <a:srgbClr val="2563EB"/>
                    </a:solidFill>
                  </a:tcPr>
                </a:tc>
                <a:tc>
                  <a:txBody>
                    <a:bodyPr>
                      <a:noAutofit/>
                    </a:bodyPr>
                    <a:lstStyle/>
                    <a:p>
                      <a:r>
                        <a:rPr sz="1800" b="1">
                          <a:solidFill>
                            <a:srgbClr val="F3F6FC"/>
                          </a:solidFill>
                          <a:latin typeface="Arial"/>
                          <a:ea typeface="Arial"/>
                          <a:cs typeface="Arial"/>
                        </a:rPr>
                        <a:t>AceAI</a:t>
                      </a:r>
                    </a:p>
                  </a:txBody>
                  <a:tcPr marL="91440" marR="91440" marT="45720" marB="45720">
                    <a:solidFill>
                      <a:srgbClr val="2563EB"/>
                    </a:solidFill>
                  </a:tcPr>
                </a:tc>
                <a:tc>
                  <a:txBody>
                    <a:bodyPr>
                      <a:noAutofit/>
                    </a:bodyPr>
                    <a:lstStyle/>
                    <a:p>
                      <a:r>
                        <a:rPr sz="1800" b="1">
                          <a:solidFill>
                            <a:srgbClr val="F3F6FC"/>
                          </a:solidFill>
                          <a:latin typeface="Arial"/>
                          <a:ea typeface="Arial"/>
                          <a:cs typeface="Arial"/>
                        </a:rPr>
                        <a:t>BetHarmony</a:t>
                      </a:r>
                    </a:p>
                  </a:txBody>
                  <a:tcPr marL="91440" marR="91440" marT="45720" marB="45720">
                    <a:solidFill>
                      <a:srgbClr val="2563EB"/>
                    </a:solidFill>
                  </a:tcPr>
                </a:tc>
                <a:tc>
                  <a:txBody>
                    <a:bodyPr>
                      <a:noAutofit/>
                    </a:bodyPr>
                    <a:lstStyle/>
                    <a:p>
                      <a:r>
                        <a:rPr sz="1800" b="1">
                          <a:solidFill>
                            <a:srgbClr val="F3F6FC"/>
                          </a:solidFill>
                          <a:latin typeface="Arial"/>
                          <a:ea typeface="Arial"/>
                          <a:cs typeface="Arial"/>
                        </a:rPr>
                        <a:t>ContextFlow</a:t>
                      </a:r>
                    </a:p>
                  </a:txBody>
                  <a:tcPr marL="91440" marR="91440" marT="45720" marB="45720">
                    <a:solidFill>
                      <a:srgbClr val="2563EB"/>
                    </a:solidFill>
                  </a:tcPr>
                </a:tc>
              </a:tr>
              <a:tr h="590550">
                <a:tc>
                  <a:txBody>
                    <a:bodyPr>
                      <a:noAutofit/>
                    </a:bodyPr>
                    <a:lstStyle/>
                    <a:p>
                      <a:r>
                        <a:rPr sz="1800" b="1">
                          <a:solidFill>
                            <a:srgbClr val="F3F6FC"/>
                          </a:solidFill>
                          <a:latin typeface="Arial"/>
                          <a:ea typeface="Arial"/>
                          <a:cs typeface="Arial"/>
                        </a:rPr>
                        <a:t>Conversational research</a:t>
                      </a:r>
                    </a:p>
                  </a:txBody>
                  <a:tcPr marL="91440" marR="91440" marT="45720" marB="45720">
                    <a:solidFill>
                      <a:srgbClr val="1A2230"/>
                    </a:solidFill>
                  </a:tcPr>
                </a:tc>
                <a:tc>
                  <a:txBody>
                    <a:bodyPr>
                      <a:noAutofit/>
                    </a:bodyPr>
                    <a:lstStyle/>
                    <a:p>
                      <a:r>
                        <a:rPr sz="1800" b="0">
                          <a:solidFill>
                            <a:srgbClr val="F3F6FC"/>
                          </a:solidFill>
                          <a:latin typeface="Arial"/>
                          <a:ea typeface="Arial"/>
                          <a:cs typeface="Arial"/>
                        </a:rPr>
                        <a:t>Published</a:t>
                      </a:r>
                    </a:p>
                  </a:txBody>
                  <a:tcPr marL="91440" marR="91440" marT="45720" marB="45720">
                    <a:solidFill>
                      <a:srgbClr val="1A2230"/>
                    </a:solidFill>
                  </a:tcPr>
                </a:tc>
                <a:tc>
                  <a:txBody>
                    <a:bodyPr>
                      <a:noAutofit/>
                    </a:bodyPr>
                    <a:lstStyle/>
                    <a:p>
                      <a:r>
                        <a:rPr sz="1800" b="0">
                          <a:solidFill>
                            <a:srgbClr val="F3F6FC"/>
                          </a:solidFill>
                          <a:latin typeface="Arial"/>
                          <a:ea typeface="Arial"/>
                          <a:cs typeface="Arial"/>
                        </a:rPr>
                        <a:t>Published</a:t>
                      </a:r>
                    </a:p>
                  </a:txBody>
                  <a:tcPr marL="91440" marR="91440" marT="45720" marB="45720">
                    <a:solidFill>
                      <a:srgbClr val="1A2230"/>
                    </a:solidFill>
                  </a:tcPr>
                </a:tc>
                <a:tc>
                  <a:txBody>
                    <a:bodyPr>
                      <a:noAutofit/>
                    </a:bodyPr>
                    <a:lstStyle/>
                    <a:p>
                      <a:r>
                        <a:rPr sz="1800" b="0">
                          <a:solidFill>
                            <a:srgbClr val="F3F6FC"/>
                          </a:solidFill>
                          <a:latin typeface="Arial"/>
                          <a:ea typeface="Arial"/>
                          <a:cs typeface="Arial"/>
                        </a:rPr>
                        <a:t>Sample demo</a:t>
                      </a:r>
                    </a:p>
                  </a:txBody>
                  <a:tcPr marL="91440" marR="91440" marT="45720" marB="45720">
                    <a:solidFill>
                      <a:srgbClr val="1A2230"/>
                    </a:solidFill>
                  </a:tcPr>
                </a:tc>
              </a:tr>
              <a:tr h="590550">
                <a:tc>
                  <a:txBody>
                    <a:bodyPr>
                      <a:noAutofit/>
                    </a:bodyPr>
                    <a:lstStyle/>
                    <a:p>
                      <a:r>
                        <a:rPr sz="1800" b="1">
                          <a:solidFill>
                            <a:srgbClr val="F3F6FC"/>
                          </a:solidFill>
                          <a:latin typeface="Arial"/>
                          <a:ea typeface="Arial"/>
                          <a:cs typeface="Arial"/>
                        </a:rPr>
                        <a:t>Action / slip support</a:t>
                      </a:r>
                    </a:p>
                  </a:txBody>
                  <a:tcPr marL="91440" marR="91440" marT="45720" marB="45720">
                    <a:solidFill>
                      <a:srgbClr val="10151E"/>
                    </a:solidFill>
                  </a:tcPr>
                </a:tc>
                <a:tc>
                  <a:txBody>
                    <a:bodyPr>
                      <a:noAutofit/>
                    </a:bodyPr>
                    <a:lstStyle/>
                    <a:p>
                      <a:r>
                        <a:rPr sz="1800" b="0">
                          <a:solidFill>
                            <a:srgbClr val="F3F6FC"/>
                          </a:solidFill>
                          <a:latin typeface="Arial"/>
                          <a:ea typeface="Arial"/>
                          <a:cs typeface="Arial"/>
                        </a:rPr>
                        <a:t>Published</a:t>
                      </a:r>
                    </a:p>
                  </a:txBody>
                  <a:tcPr marL="91440" marR="91440" marT="45720" marB="45720">
                    <a:solidFill>
                      <a:srgbClr val="10151E"/>
                    </a:solidFill>
                  </a:tcPr>
                </a:tc>
                <a:tc>
                  <a:txBody>
                    <a:bodyPr>
                      <a:noAutofit/>
                    </a:bodyPr>
                    <a:lstStyle/>
                    <a:p>
                      <a:r>
                        <a:rPr sz="1800" b="0">
                          <a:solidFill>
                            <a:srgbClr val="F3F6FC"/>
                          </a:solidFill>
                          <a:latin typeface="Arial"/>
                          <a:ea typeface="Arial"/>
                          <a:cs typeface="Arial"/>
                        </a:rPr>
                        <a:t>Published</a:t>
                      </a:r>
                    </a:p>
                  </a:txBody>
                  <a:tcPr marL="91440" marR="91440" marT="45720" marB="45720">
                    <a:solidFill>
                      <a:srgbClr val="10151E"/>
                    </a:solidFill>
                  </a:tcPr>
                </a:tc>
                <a:tc>
                  <a:txBody>
                    <a:bodyPr>
                      <a:noAutofit/>
                    </a:bodyPr>
                    <a:lstStyle/>
                    <a:p>
                      <a:r>
                        <a:rPr sz="1800" b="0">
                          <a:solidFill>
                            <a:srgbClr val="F3F6FC"/>
                          </a:solidFill>
                          <a:latin typeface="Arial"/>
                          <a:ea typeface="Arial"/>
                          <a:cs typeface="Arial"/>
                        </a:rPr>
                        <a:t>Sample demo</a:t>
                      </a:r>
                    </a:p>
                  </a:txBody>
                  <a:tcPr marL="91440" marR="91440" marT="45720" marB="45720">
                    <a:solidFill>
                      <a:srgbClr val="10151E"/>
                    </a:solidFill>
                  </a:tcPr>
                </a:tc>
              </a:tr>
              <a:tr h="590550">
                <a:tc>
                  <a:txBody>
                    <a:bodyPr>
                      <a:noAutofit/>
                    </a:bodyPr>
                    <a:lstStyle/>
                    <a:p>
                      <a:r>
                        <a:rPr sz="1800" b="1">
                          <a:solidFill>
                            <a:srgbClr val="F3F6FC"/>
                          </a:solidFill>
                          <a:latin typeface="Arial"/>
                          <a:ea typeface="Arial"/>
                          <a:cs typeface="Arial"/>
                        </a:rPr>
                        <a:t>Context memory</a:t>
                      </a:r>
                    </a:p>
                  </a:txBody>
                  <a:tcPr marL="91440" marR="91440" marT="45720" marB="45720">
                    <a:solidFill>
                      <a:srgbClr val="1A2230"/>
                    </a:solidFill>
                  </a:tcPr>
                </a:tc>
                <a:tc>
                  <a:txBody>
                    <a:bodyPr>
                      <a:noAutofit/>
                    </a:bodyPr>
                    <a:lstStyle/>
                    <a:p>
                      <a:r>
                        <a:rPr sz="1800" b="0">
                          <a:solidFill>
                            <a:srgbClr val="F3F6FC"/>
                          </a:solidFill>
                          <a:latin typeface="Arial"/>
                          <a:ea typeface="Arial"/>
                          <a:cs typeface="Arial"/>
                        </a:rPr>
                        <a:t>Published</a:t>
                      </a:r>
                    </a:p>
                  </a:txBody>
                  <a:tcPr marL="91440" marR="91440" marT="45720" marB="45720">
                    <a:solidFill>
                      <a:srgbClr val="1A2230"/>
                    </a:solidFill>
                  </a:tcPr>
                </a:tc>
                <a:tc>
                  <a:txBody>
                    <a:bodyPr>
                      <a:noAutofit/>
                    </a:bodyPr>
                    <a:lstStyle/>
                    <a:p>
                      <a:r>
                        <a:rPr sz="1800" b="0">
                          <a:solidFill>
                            <a:srgbClr val="F3F6FC"/>
                          </a:solidFill>
                          <a:latin typeface="Arial"/>
                          <a:ea typeface="Arial"/>
                          <a:cs typeface="Arial"/>
                        </a:rPr>
                        <a:t>Published</a:t>
                      </a:r>
                    </a:p>
                  </a:txBody>
                  <a:tcPr marL="91440" marR="91440" marT="45720" marB="45720">
                    <a:solidFill>
                      <a:srgbClr val="1A2230"/>
                    </a:solidFill>
                  </a:tcPr>
                </a:tc>
                <a:tc>
                  <a:txBody>
                    <a:bodyPr>
                      <a:noAutofit/>
                    </a:bodyPr>
                    <a:lstStyle/>
                    <a:p>
                      <a:r>
                        <a:rPr sz="1800" b="0">
                          <a:solidFill>
                            <a:srgbClr val="F3F6FC"/>
                          </a:solidFill>
                          <a:latin typeface="Arial"/>
                          <a:ea typeface="Arial"/>
                          <a:cs typeface="Arial"/>
                        </a:rPr>
                        <a:t>Persisted task</a:t>
                      </a:r>
                    </a:p>
                  </a:txBody>
                  <a:tcPr marL="91440" marR="91440" marT="45720" marB="45720">
                    <a:solidFill>
                      <a:srgbClr val="1A2230"/>
                    </a:solidFill>
                  </a:tcPr>
                </a:tc>
              </a:tr>
              <a:tr h="590550">
                <a:tc>
                  <a:txBody>
                    <a:bodyPr>
                      <a:noAutofit/>
                    </a:bodyPr>
                    <a:lstStyle/>
                    <a:p>
                      <a:r>
                        <a:rPr sz="1800" b="1">
                          <a:solidFill>
                            <a:srgbClr val="F3F6FC"/>
                          </a:solidFill>
                          <a:latin typeface="Arial"/>
                          <a:ea typeface="Arial"/>
                          <a:cs typeface="Arial"/>
                        </a:rPr>
                        <a:t>External research handoff</a:t>
                      </a:r>
                    </a:p>
                  </a:txBody>
                  <a:tcPr marL="91440" marR="91440" marT="45720" marB="45720">
                    <a:solidFill>
                      <a:srgbClr val="10151E"/>
                    </a:solidFill>
                  </a:tcPr>
                </a:tc>
                <a:tc>
                  <a:txBody>
                    <a:bodyPr>
                      <a:noAutofit/>
                    </a:bodyPr>
                    <a:lstStyle/>
                    <a:p>
                      <a:r>
                        <a:rPr sz="1800" b="0">
                          <a:solidFill>
                            <a:srgbClr val="F3F6FC"/>
                          </a:solidFill>
                          <a:latin typeface="Arial"/>
                          <a:ea typeface="Arial"/>
                          <a:cs typeface="Arial"/>
                        </a:rPr>
                        <a:t>Unknown</a:t>
                      </a:r>
                    </a:p>
                  </a:txBody>
                  <a:tcPr marL="91440" marR="91440" marT="45720" marB="45720">
                    <a:solidFill>
                      <a:srgbClr val="10151E"/>
                    </a:solidFill>
                  </a:tcPr>
                </a:tc>
                <a:tc>
                  <a:txBody>
                    <a:bodyPr>
                      <a:noAutofit/>
                    </a:bodyPr>
                    <a:lstStyle/>
                    <a:p>
                      <a:r>
                        <a:rPr sz="1800" b="0">
                          <a:solidFill>
                            <a:srgbClr val="F3F6FC"/>
                          </a:solidFill>
                          <a:latin typeface="Arial"/>
                          <a:ea typeface="Arial"/>
                          <a:cs typeface="Arial"/>
                        </a:rPr>
                        <a:t>Unknown</a:t>
                      </a:r>
                    </a:p>
                  </a:txBody>
                  <a:tcPr marL="91440" marR="91440" marT="45720" marB="45720">
                    <a:solidFill>
                      <a:srgbClr val="10151E"/>
                    </a:solidFill>
                  </a:tcPr>
                </a:tc>
                <a:tc>
                  <a:txBody>
                    <a:bodyPr>
                      <a:noAutofit/>
                    </a:bodyPr>
                    <a:lstStyle/>
                    <a:p>
                      <a:r>
                        <a:rPr sz="1800" b="0">
                          <a:solidFill>
                            <a:srgbClr val="F3F6FC"/>
                          </a:solidFill>
                          <a:latin typeface="Arial"/>
                          <a:ea typeface="Arial"/>
                          <a:cs typeface="Arial"/>
                        </a:rPr>
                        <a:t>Demonstrated</a:t>
                      </a:r>
                    </a:p>
                  </a:txBody>
                  <a:tcPr marL="91440" marR="91440" marT="45720" marB="45720">
                    <a:solidFill>
                      <a:srgbClr val="10151E"/>
                    </a:solidFill>
                  </a:tcPr>
                </a:tc>
              </a:tr>
              <a:tr h="590550">
                <a:tc>
                  <a:txBody>
                    <a:bodyPr>
                      <a:noAutofit/>
                    </a:bodyPr>
                    <a:lstStyle/>
                    <a:p>
                      <a:r>
                        <a:rPr sz="1800" b="1">
                          <a:solidFill>
                            <a:srgbClr val="F3F6FC"/>
                          </a:solidFill>
                          <a:latin typeface="Arial"/>
                          <a:ea typeface="Arial"/>
                          <a:cs typeface="Arial"/>
                        </a:rPr>
                        <a:t>Native OS surfaces</a:t>
                      </a:r>
                    </a:p>
                  </a:txBody>
                  <a:tcPr marL="91440" marR="91440" marT="45720" marB="45720">
                    <a:solidFill>
                      <a:srgbClr val="1A2230"/>
                    </a:solidFill>
                  </a:tcPr>
                </a:tc>
                <a:tc>
                  <a:txBody>
                    <a:bodyPr>
                      <a:noAutofit/>
                    </a:bodyPr>
                    <a:lstStyle/>
                    <a:p>
                      <a:r>
                        <a:rPr sz="1800" b="0">
                          <a:solidFill>
                            <a:srgbClr val="F3F6FC"/>
                          </a:solidFill>
                          <a:latin typeface="Arial"/>
                          <a:ea typeface="Arial"/>
                          <a:cs typeface="Arial"/>
                        </a:rPr>
                        <a:t>Unknown</a:t>
                      </a:r>
                    </a:p>
                  </a:txBody>
                  <a:tcPr marL="91440" marR="91440" marT="45720" marB="45720">
                    <a:solidFill>
                      <a:srgbClr val="1A2230"/>
                    </a:solidFill>
                  </a:tcPr>
                </a:tc>
                <a:tc>
                  <a:txBody>
                    <a:bodyPr>
                      <a:noAutofit/>
                    </a:bodyPr>
                    <a:lstStyle/>
                    <a:p>
                      <a:r>
                        <a:rPr sz="1800" b="0">
                          <a:solidFill>
                            <a:srgbClr val="F3F6FC"/>
                          </a:solidFill>
                          <a:latin typeface="Arial"/>
                          <a:ea typeface="Arial"/>
                          <a:cs typeface="Arial"/>
                        </a:rPr>
                        <a:t>Unknown</a:t>
                      </a:r>
                    </a:p>
                  </a:txBody>
                  <a:tcPr marL="91440" marR="91440" marT="45720" marB="45720">
                    <a:solidFill>
                      <a:srgbClr val="1A2230"/>
                    </a:solidFill>
                  </a:tcPr>
                </a:tc>
                <a:tc>
                  <a:txBody>
                    <a:bodyPr>
                      <a:noAutofit/>
                    </a:bodyPr>
                    <a:lstStyle/>
                    <a:p>
                      <a:r>
                        <a:rPr sz="1800" b="0">
                          <a:solidFill>
                            <a:srgbClr val="F3F6FC"/>
                          </a:solidFill>
                          <a:latin typeface="Arial"/>
                          <a:ea typeface="Arial"/>
                          <a:cs typeface="Arial"/>
                        </a:rPr>
                        <a:t>iPhone capture</a:t>
                      </a:r>
                    </a:p>
                  </a:txBody>
                  <a:tcPr marL="91440" marR="91440" marT="45720" marB="45720">
                    <a:solidFill>
                      <a:srgbClr val="1A2230"/>
                    </a:solidFill>
                  </a:tcPr>
                </a:tc>
              </a:tr>
            </a:tbl>
          </a:graphicData>
        </a:graphic>
      </p:graphicFrame>
      <p:sp>
        <p:nvSpPr>
          <p:cNvPr id="5" name="">
            <a:extLst xmlns:a="http://schemas.openxmlformats.org/drawingml/2006/main">
              <a:ext uri="{FF2B5EF4-FFF2-40B4-BE49-F238E27FC236}">
                <a16:creationId xmlns:a16="http://schemas.microsoft.com/office/drawing/2014/main" id="{6EB792A6-2A94-42E3-B88B-2DFA7462B09A}"/>
              </a:ext>
            </a:extLst>
          </p:cNvPr>
          <p:cNvSpPr>
            <a:spLocks xmlns:a="http://schemas.openxmlformats.org/drawingml/2006/main" noGrp="1"/>
          </p:cNvSpPr>
          <p:nvPr/>
        </p:nvSpPr>
        <p:spPr>
          <a:xfrm xmlns:a="http://schemas.openxmlformats.org/drawingml/2006/main">
            <a:off x="628650" y="5876925"/>
            <a:ext cx="10896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ACB9CD"/>
                </a:solidFill>
                <a:latin typeface="Arial"/>
                <a:ea typeface="Arial"/>
                <a:cs typeface="Arial"/>
              </a:defRPr>
            </a:pPr>
            <a:r>
              <a:rPr sz="1800" b="0">
                <a:solidFill>
                  <a:srgbClr val="ACB9CD"/>
                </a:solidFill>
                <a:latin typeface="Arial"/>
                <a:ea typeface="Arial"/>
                <a:cs typeface="Arial"/>
              </a:rPr>
              <a:t>Unknown means unverified in these sources. Watch and Mac remain concepts.</a:t>
            </a:r>
          </a:p>
        </p:txBody>
      </p:sp>
    </p:spTree>
    <p:extLst>
      <p:ext uri="{BB962C8B-B14F-4D97-AF65-F5344CB8AC3E}">
        <p14:creationId xmlns:p14="http://schemas.microsoft.com/office/powerpoint/2010/main" val="467634025"/>
      </p:ext>
    </p:extLst>
  </p:cSld>
</p:sld>
</file>

<file path=ppt/slides/slide11.xml><?xml version="1.0" encoding="utf-8"?>
<p:sld xmlns:p="http://schemas.openxmlformats.org/presentationml/2006/main">
  <p:cSld>
    <p:bg>
      <p:bgPr>
        <a:solidFill xmlns:a="http://schemas.openxmlformats.org/drawingml/2006/main">
          <a:srgbClr val="10151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F35DBE2-CE2B-4463-B32E-E2779BD63072}"/>
              </a:ext>
            </a:extLst>
          </p:cNvPr>
          <p:cNvSpPr>
            <a:spLocks xmlns:a="http://schemas.openxmlformats.org/drawingml/2006/main" noGrp="1"/>
          </p:cNvSpPr>
          <p:nvPr/>
        </p:nvSpPr>
        <p:spPr>
          <a:xfrm xmlns:a="http://schemas.openxmlformats.org/drawingml/2006/main">
            <a:off x="609600" y="495300"/>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3F6FC"/>
                </a:solidFill>
                <a:latin typeface="Arial"/>
                <a:ea typeface="Arial"/>
                <a:cs typeface="Arial"/>
              </a:defRPr>
            </a:pPr>
            <a:r>
              <a:rPr sz="3600" b="1">
                <a:solidFill>
                  <a:srgbClr val="F3F6FC"/>
                </a:solidFill>
                <a:latin typeface="Arial"/>
                <a:ea typeface="Arial"/>
                <a:cs typeface="Arial"/>
              </a:rPr>
              <a:t>Detailed economics</a:t>
            </a:r>
          </a:p>
        </p:txBody>
      </p:sp>
      <p:sp>
        <p:nvSpPr>
          <p:cNvPr id="2" name="">
            <a:extLst xmlns:a="http://schemas.openxmlformats.org/drawingml/2006/main">
              <a:ext uri="{FF2B5EF4-FFF2-40B4-BE49-F238E27FC236}">
                <a16:creationId xmlns:a16="http://schemas.microsoft.com/office/drawing/2014/main" id="{7DF17D8C-32F0-44E3-B056-73BEB48BD279}"/>
              </a:ext>
            </a:extLst>
          </p:cNvPr>
          <p:cNvSpPr>
            <a:spLocks xmlns:a="http://schemas.openxmlformats.org/drawingml/2006/main" noGrp="1"/>
          </p:cNvSpPr>
          <p:nvPr/>
        </p:nvSpPr>
        <p:spPr>
          <a:xfrm xmlns:a="http://schemas.openxmlformats.org/drawingml/2006/main">
            <a:off x="628650" y="1333500"/>
            <a:ext cx="10896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CB9CD"/>
                </a:solidFill>
                <a:latin typeface="Arial"/>
                <a:ea typeface="Arial"/>
                <a:cs typeface="Arial"/>
              </a:defRPr>
            </a:pPr>
            <a:r>
              <a:rPr sz="1875" b="0">
                <a:solidFill>
                  <a:srgbClr val="ACB9CD"/>
                </a:solidFill>
                <a:latin typeface="Arial"/>
                <a:ea typeface="Arial"/>
                <a:cs typeface="Arial"/>
              </a:rPr>
              <a:t>Assumed €3 contribution + €1 support saving per adopter / month.</a:t>
            </a:r>
          </a:p>
        </p:txBody>
      </p:sp>
      <p:sp>
        <p:nvSpPr>
          <p:cNvPr id="3" name="">
            <a:extLst xmlns:a="http://schemas.openxmlformats.org/drawingml/2006/main">
              <a:ext uri="{FF2B5EF4-FFF2-40B4-BE49-F238E27FC236}">
                <a16:creationId xmlns:a16="http://schemas.microsoft.com/office/drawing/2014/main" id="{87422823-DF91-4A1E-BC52-7150B730EB52}"/>
              </a:ext>
            </a:extLst>
          </p:cNvPr>
          <p:cNvSpPr>
            <a:spLocks xmlns:a="http://schemas.openxmlformats.org/drawingml/2006/main" noGrp="1"/>
          </p:cNvSpPr>
          <p:nvPr/>
        </p:nvSpPr>
        <p:spPr>
          <a:xfrm xmlns:a="http://schemas.openxmlformats.org/drawingml/2006/main">
            <a:off x="62865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CB9CD"/>
                </a:solidFill>
                <a:latin typeface="Arial"/>
                <a:ea typeface="Arial"/>
                <a:cs typeface="Arial"/>
              </a:defRPr>
            </a:pPr>
            <a:r>
              <a:rPr sz="1200" b="0">
                <a:solidFill>
                  <a:srgbClr val="ACB9CD"/>
                </a:solidFill>
                <a:latin typeface="Arial"/>
                <a:ea typeface="Arial"/>
                <a:cs typeface="Arial"/>
              </a:rPr>
              <a:t>STORYBOARD REVIEW · 11</a:t>
            </a:r>
          </a:p>
        </p:txBody>
      </p:sp>
      <p:graphicFrame>
        <p:nvGraphicFramePr>
          <p:cNvPr id="10" name=""/>
          <p:cNvGraphicFramePr/>
          <p:nvPr/>
        </p:nvGraphicFramePr>
        <p:xfrm>
          <a:off xmlns:a="http://schemas.openxmlformats.org/drawingml/2006/main" x="628650" y="2190750"/>
          <a:ext xmlns:a="http://schemas.openxmlformats.org/drawingml/2006/main" cx="10896600" cy="2876550"/>
        </p:xfrm>
        <a:graphic xmlns:a="http://schemas.openxmlformats.org/drawingml/2006/main">
          <a:graphicData uri="http://schemas.openxmlformats.org/drawingml/2006/table">
            <a:tbl>
              <a:tblPr/>
              <a:tblGrid>
                <a:gridCol w="4552950"/>
                <a:gridCol w="2114550"/>
                <a:gridCol w="2114550"/>
                <a:gridCol w="2114550"/>
              </a:tblGrid>
              <a:tr h="575310">
                <a:tc>
                  <a:txBody>
                    <a:bodyPr>
                      <a:noAutofit/>
                    </a:bodyPr>
                    <a:lstStyle/>
                    <a:p>
                      <a:r>
                        <a:rPr sz="1800" b="1">
                          <a:solidFill>
                            <a:srgbClr val="F3F6FC"/>
                          </a:solidFill>
                          <a:latin typeface="Arial"/>
                          <a:ea typeface="Arial"/>
                          <a:cs typeface="Arial"/>
                        </a:rPr>
                        <a:t>Monthly scenario</a:t>
                      </a:r>
                    </a:p>
                  </a:txBody>
                  <a:tcPr marL="91440" marR="91440" marT="45720" marB="45720">
                    <a:solidFill>
                      <a:srgbClr val="2563EB"/>
                    </a:solidFill>
                  </a:tcPr>
                </a:tc>
                <a:tc>
                  <a:txBody>
                    <a:bodyPr>
                      <a:noAutofit/>
                    </a:bodyPr>
                    <a:lstStyle/>
                    <a:p>
                      <a:r>
                        <a:rPr sz="1800" b="1">
                          <a:solidFill>
                            <a:srgbClr val="F3F6FC"/>
                          </a:solidFill>
                          <a:latin typeface="Arial"/>
                          <a:ea typeface="Arial"/>
                          <a:cs typeface="Arial"/>
                        </a:rPr>
                        <a:t>10%</a:t>
                      </a:r>
                    </a:p>
                  </a:txBody>
                  <a:tcPr marL="91440" marR="91440" marT="45720" marB="45720">
                    <a:solidFill>
                      <a:srgbClr val="2563EB"/>
                    </a:solidFill>
                  </a:tcPr>
                </a:tc>
                <a:tc>
                  <a:txBody>
                    <a:bodyPr>
                      <a:noAutofit/>
                    </a:bodyPr>
                    <a:lstStyle/>
                    <a:p>
                      <a:r>
                        <a:rPr sz="1800" b="1">
                          <a:solidFill>
                            <a:srgbClr val="F3F6FC"/>
                          </a:solidFill>
                          <a:latin typeface="Arial"/>
                          <a:ea typeface="Arial"/>
                          <a:cs typeface="Arial"/>
                        </a:rPr>
                        <a:t>20%</a:t>
                      </a:r>
                    </a:p>
                  </a:txBody>
                  <a:tcPr marL="91440" marR="91440" marT="45720" marB="45720">
                    <a:solidFill>
                      <a:srgbClr val="2563EB"/>
                    </a:solidFill>
                  </a:tcPr>
                </a:tc>
                <a:tc>
                  <a:txBody>
                    <a:bodyPr>
                      <a:noAutofit/>
                    </a:bodyPr>
                    <a:lstStyle/>
                    <a:p>
                      <a:r>
                        <a:rPr sz="1800" b="1">
                          <a:solidFill>
                            <a:srgbClr val="F3F6FC"/>
                          </a:solidFill>
                          <a:latin typeface="Arial"/>
                          <a:ea typeface="Arial"/>
                          <a:cs typeface="Arial"/>
                        </a:rPr>
                        <a:t>30%</a:t>
                      </a:r>
                    </a:p>
                  </a:txBody>
                  <a:tcPr marL="91440" marR="91440" marT="45720" marB="45720">
                    <a:solidFill>
                      <a:srgbClr val="2563EB"/>
                    </a:solidFill>
                  </a:tcPr>
                </a:tc>
              </a:tr>
              <a:tr h="575310">
                <a:tc>
                  <a:txBody>
                    <a:bodyPr>
                      <a:noAutofit/>
                    </a:bodyPr>
                    <a:lstStyle/>
                    <a:p>
                      <a:r>
                        <a:rPr sz="1800" b="1">
                          <a:solidFill>
                            <a:srgbClr val="F3F6FC"/>
                          </a:solidFill>
                          <a:latin typeface="Arial"/>
                          <a:ea typeface="Arial"/>
                          <a:cs typeface="Arial"/>
                        </a:rPr>
                        <a:t>Operating cost</a:t>
                      </a:r>
                    </a:p>
                  </a:txBody>
                  <a:tcPr marL="91440" marR="91440" marT="45720" marB="45720">
                    <a:solidFill>
                      <a:srgbClr val="1A2230"/>
                    </a:solidFill>
                  </a:tcPr>
                </a:tc>
                <a:tc>
                  <a:txBody>
                    <a:bodyPr>
                      <a:noAutofit/>
                    </a:bodyPr>
                    <a:lstStyle/>
                    <a:p>
                      <a:r>
                        <a:rPr sz="1800" b="0">
                          <a:solidFill>
                            <a:srgbClr val="F3F6FC"/>
                          </a:solidFill>
                          <a:latin typeface="Arial"/>
                          <a:ea typeface="Arial"/>
                          <a:cs typeface="Arial"/>
                        </a:rPr>
                        <a:t>€201.29</a:t>
                      </a:r>
                    </a:p>
                  </a:txBody>
                  <a:tcPr marL="91440" marR="91440" marT="45720" marB="45720">
                    <a:solidFill>
                      <a:srgbClr val="1A2230"/>
                    </a:solidFill>
                  </a:tcPr>
                </a:tc>
                <a:tc>
                  <a:txBody>
                    <a:bodyPr>
                      <a:noAutofit/>
                    </a:bodyPr>
                    <a:lstStyle/>
                    <a:p>
                      <a:r>
                        <a:rPr sz="1800" b="0">
                          <a:solidFill>
                            <a:srgbClr val="F3F6FC"/>
                          </a:solidFill>
                          <a:latin typeface="Arial"/>
                          <a:ea typeface="Arial"/>
                          <a:cs typeface="Arial"/>
                        </a:rPr>
                        <a:t>€257.57</a:t>
                      </a:r>
                    </a:p>
                  </a:txBody>
                  <a:tcPr marL="91440" marR="91440" marT="45720" marB="45720">
                    <a:solidFill>
                      <a:srgbClr val="1A2230"/>
                    </a:solidFill>
                  </a:tcPr>
                </a:tc>
                <a:tc>
                  <a:txBody>
                    <a:bodyPr>
                      <a:noAutofit/>
                    </a:bodyPr>
                    <a:lstStyle/>
                    <a:p>
                      <a:r>
                        <a:rPr sz="1800" b="0">
                          <a:solidFill>
                            <a:srgbClr val="F3F6FC"/>
                          </a:solidFill>
                          <a:latin typeface="Arial"/>
                          <a:ea typeface="Arial"/>
                          <a:cs typeface="Arial"/>
                        </a:rPr>
                        <a:t>€313.86</a:t>
                      </a:r>
                    </a:p>
                  </a:txBody>
                  <a:tcPr marL="91440" marR="91440" marT="45720" marB="45720">
                    <a:solidFill>
                      <a:srgbClr val="1A2230"/>
                    </a:solidFill>
                  </a:tcPr>
                </a:tc>
              </a:tr>
              <a:tr h="575310">
                <a:tc>
                  <a:txBody>
                    <a:bodyPr>
                      <a:noAutofit/>
                    </a:bodyPr>
                    <a:lstStyle/>
                    <a:p>
                      <a:r>
                        <a:rPr sz="1800" b="1">
                          <a:solidFill>
                            <a:srgbClr val="F3F6FC"/>
                          </a:solidFill>
                          <a:latin typeface="Arial"/>
                          <a:ea typeface="Arial"/>
                          <a:cs typeface="Arial"/>
                        </a:rPr>
                        <a:t>Benefit</a:t>
                      </a:r>
                    </a:p>
                  </a:txBody>
                  <a:tcPr marL="91440" marR="91440" marT="45720" marB="45720">
                    <a:solidFill>
                      <a:srgbClr val="10151E"/>
                    </a:solidFill>
                  </a:tcPr>
                </a:tc>
                <a:tc>
                  <a:txBody>
                    <a:bodyPr>
                      <a:noAutofit/>
                    </a:bodyPr>
                    <a:lstStyle/>
                    <a:p>
                      <a:r>
                        <a:rPr sz="1800" b="0">
                          <a:solidFill>
                            <a:srgbClr val="F3F6FC"/>
                          </a:solidFill>
                          <a:latin typeface="Arial"/>
                          <a:ea typeface="Arial"/>
                          <a:cs typeface="Arial"/>
                        </a:rPr>
                        <a:t>€200.00</a:t>
                      </a:r>
                    </a:p>
                  </a:txBody>
                  <a:tcPr marL="91440" marR="91440" marT="45720" marB="45720">
                    <a:solidFill>
                      <a:srgbClr val="10151E"/>
                    </a:solidFill>
                  </a:tcPr>
                </a:tc>
                <a:tc>
                  <a:txBody>
                    <a:bodyPr>
                      <a:noAutofit/>
                    </a:bodyPr>
                    <a:lstStyle/>
                    <a:p>
                      <a:r>
                        <a:rPr sz="1800" b="0">
                          <a:solidFill>
                            <a:srgbClr val="F3F6FC"/>
                          </a:solidFill>
                          <a:latin typeface="Arial"/>
                          <a:ea typeface="Arial"/>
                          <a:cs typeface="Arial"/>
                        </a:rPr>
                        <a:t>€400.00</a:t>
                      </a:r>
                    </a:p>
                  </a:txBody>
                  <a:tcPr marL="91440" marR="91440" marT="45720" marB="45720">
                    <a:solidFill>
                      <a:srgbClr val="10151E"/>
                    </a:solidFill>
                  </a:tcPr>
                </a:tc>
                <a:tc>
                  <a:txBody>
                    <a:bodyPr>
                      <a:noAutofit/>
                    </a:bodyPr>
                    <a:lstStyle/>
                    <a:p>
                      <a:r>
                        <a:rPr sz="1800" b="0">
                          <a:solidFill>
                            <a:srgbClr val="F3F6FC"/>
                          </a:solidFill>
                          <a:latin typeface="Arial"/>
                          <a:ea typeface="Arial"/>
                          <a:cs typeface="Arial"/>
                        </a:rPr>
                        <a:t>€600.00</a:t>
                      </a:r>
                    </a:p>
                  </a:txBody>
                  <a:tcPr marL="91440" marR="91440" marT="45720" marB="45720">
                    <a:solidFill>
                      <a:srgbClr val="10151E"/>
                    </a:solidFill>
                  </a:tcPr>
                </a:tc>
              </a:tr>
              <a:tr h="575310">
                <a:tc>
                  <a:txBody>
                    <a:bodyPr>
                      <a:noAutofit/>
                    </a:bodyPr>
                    <a:lstStyle/>
                    <a:p>
                      <a:r>
                        <a:rPr sz="1800" b="1">
                          <a:solidFill>
                            <a:srgbClr val="F3F6FC"/>
                          </a:solidFill>
                          <a:latin typeface="Arial"/>
                          <a:ea typeface="Arial"/>
                          <a:cs typeface="Arial"/>
                        </a:rPr>
                        <a:t>Net benefit</a:t>
                      </a:r>
                    </a:p>
                  </a:txBody>
                  <a:tcPr marL="91440" marR="91440" marT="45720" marB="45720">
                    <a:solidFill>
                      <a:srgbClr val="1A2230"/>
                    </a:solidFill>
                  </a:tcPr>
                </a:tc>
                <a:tc>
                  <a:txBody>
                    <a:bodyPr>
                      <a:noAutofit/>
                    </a:bodyPr>
                    <a:lstStyle/>
                    <a:p>
                      <a:r>
                        <a:rPr sz="1800" b="0">
                          <a:solidFill>
                            <a:srgbClr val="F3F6FC"/>
                          </a:solidFill>
                          <a:latin typeface="Arial"/>
                          <a:ea typeface="Arial"/>
                          <a:cs typeface="Arial"/>
                        </a:rPr>
                        <a:t>−€1.29</a:t>
                      </a:r>
                    </a:p>
                  </a:txBody>
                  <a:tcPr marL="91440" marR="91440" marT="45720" marB="45720">
                    <a:solidFill>
                      <a:srgbClr val="1A2230"/>
                    </a:solidFill>
                  </a:tcPr>
                </a:tc>
                <a:tc>
                  <a:txBody>
                    <a:bodyPr>
                      <a:noAutofit/>
                    </a:bodyPr>
                    <a:lstStyle/>
                    <a:p>
                      <a:r>
                        <a:rPr sz="1800" b="0">
                          <a:solidFill>
                            <a:srgbClr val="F3F6FC"/>
                          </a:solidFill>
                          <a:latin typeface="Arial"/>
                          <a:ea typeface="Arial"/>
                          <a:cs typeface="Arial"/>
                        </a:rPr>
                        <a:t>€142.43</a:t>
                      </a:r>
                    </a:p>
                  </a:txBody>
                  <a:tcPr marL="91440" marR="91440" marT="45720" marB="45720">
                    <a:solidFill>
                      <a:srgbClr val="1A2230"/>
                    </a:solidFill>
                  </a:tcPr>
                </a:tc>
                <a:tc>
                  <a:txBody>
                    <a:bodyPr>
                      <a:noAutofit/>
                    </a:bodyPr>
                    <a:lstStyle/>
                    <a:p>
                      <a:r>
                        <a:rPr sz="1800" b="0">
                          <a:solidFill>
                            <a:srgbClr val="F3F6FC"/>
                          </a:solidFill>
                          <a:latin typeface="Arial"/>
                          <a:ea typeface="Arial"/>
                          <a:cs typeface="Arial"/>
                        </a:rPr>
                        <a:t>€286.14</a:t>
                      </a:r>
                    </a:p>
                  </a:txBody>
                  <a:tcPr marL="91440" marR="91440" marT="45720" marB="45720">
                    <a:solidFill>
                      <a:srgbClr val="1A2230"/>
                    </a:solidFill>
                  </a:tcPr>
                </a:tc>
              </a:tr>
              <a:tr h="575310">
                <a:tc>
                  <a:txBody>
                    <a:bodyPr>
                      <a:noAutofit/>
                    </a:bodyPr>
                    <a:lstStyle/>
                    <a:p>
                      <a:r>
                        <a:rPr sz="1800" b="1">
                          <a:solidFill>
                            <a:srgbClr val="F3F6FC"/>
                          </a:solidFill>
                          <a:latin typeface="Arial"/>
                          <a:ea typeface="Arial"/>
                          <a:cs typeface="Arial"/>
                        </a:rPr>
                        <a:t>Payback on €9,120</a:t>
                      </a:r>
                    </a:p>
                  </a:txBody>
                  <a:tcPr marL="91440" marR="91440" marT="45720" marB="45720">
                    <a:solidFill>
                      <a:srgbClr val="10151E"/>
                    </a:solidFill>
                  </a:tcPr>
                </a:tc>
                <a:tc>
                  <a:txBody>
                    <a:bodyPr>
                      <a:noAutofit/>
                    </a:bodyPr>
                    <a:lstStyle/>
                    <a:p>
                      <a:r>
                        <a:rPr sz="1800" b="0">
                          <a:solidFill>
                            <a:srgbClr val="F3F6FC"/>
                          </a:solidFill>
                          <a:latin typeface="Arial"/>
                          <a:ea typeface="Arial"/>
                          <a:cs typeface="Arial"/>
                        </a:rPr>
                        <a:t>None</a:t>
                      </a:r>
                    </a:p>
                  </a:txBody>
                  <a:tcPr marL="91440" marR="91440" marT="45720" marB="45720">
                    <a:solidFill>
                      <a:srgbClr val="10151E"/>
                    </a:solidFill>
                  </a:tcPr>
                </a:tc>
                <a:tc>
                  <a:txBody>
                    <a:bodyPr>
                      <a:noAutofit/>
                    </a:bodyPr>
                    <a:lstStyle/>
                    <a:p>
                      <a:r>
                        <a:rPr sz="1800" b="0">
                          <a:solidFill>
                            <a:srgbClr val="F3F6FC"/>
                          </a:solidFill>
                          <a:latin typeface="Arial"/>
                          <a:ea typeface="Arial"/>
                          <a:cs typeface="Arial"/>
                        </a:rPr>
                        <a:t>64.0 mo</a:t>
                      </a:r>
                    </a:p>
                  </a:txBody>
                  <a:tcPr marL="91440" marR="91440" marT="45720" marB="45720">
                    <a:solidFill>
                      <a:srgbClr val="10151E"/>
                    </a:solidFill>
                  </a:tcPr>
                </a:tc>
                <a:tc>
                  <a:txBody>
                    <a:bodyPr>
                      <a:noAutofit/>
                    </a:bodyPr>
                    <a:lstStyle/>
                    <a:p>
                      <a:r>
                        <a:rPr sz="1800" b="0">
                          <a:solidFill>
                            <a:srgbClr val="F3F6FC"/>
                          </a:solidFill>
                          <a:latin typeface="Arial"/>
                          <a:ea typeface="Arial"/>
                          <a:cs typeface="Arial"/>
                        </a:rPr>
                        <a:t>31.9 mo</a:t>
                      </a:r>
                    </a:p>
                  </a:txBody>
                  <a:tcPr marL="91440" marR="91440" marT="45720" marB="45720">
                    <a:solidFill>
                      <a:srgbClr val="10151E"/>
                    </a:solidFill>
                  </a:tcPr>
                </a:tc>
              </a:tr>
            </a:tbl>
          </a:graphicData>
        </a:graphic>
      </p:graphicFrame>
      <p:sp>
        <p:nvSpPr>
          <p:cNvPr id="5" name="">
            <a:extLst xmlns:a="http://schemas.openxmlformats.org/drawingml/2006/main">
              <a:ext uri="{FF2B5EF4-FFF2-40B4-BE49-F238E27FC236}">
                <a16:creationId xmlns:a16="http://schemas.microsoft.com/office/drawing/2014/main" id="{3986AA41-24B2-4D27-ADBC-C6D99382F07F}"/>
              </a:ext>
            </a:extLst>
          </p:cNvPr>
          <p:cNvSpPr>
            <a:spLocks xmlns:a="http://schemas.openxmlformats.org/drawingml/2006/main" noGrp="1"/>
          </p:cNvSpPr>
          <p:nvPr/>
        </p:nvSpPr>
        <p:spPr>
          <a:xfrm xmlns:a="http://schemas.openxmlformats.org/drawingml/2006/main">
            <a:off x="628650" y="5419725"/>
            <a:ext cx="10896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91BAFF"/>
                </a:solidFill>
                <a:latin typeface="Arial"/>
                <a:ea typeface="Arial"/>
                <a:cs typeface="Arial"/>
              </a:defRPr>
            </a:pPr>
            <a:r>
              <a:rPr sz="2175" b="1">
                <a:solidFill>
                  <a:srgbClr val="91BAFF"/>
                </a:solidFill>
                <a:latin typeface="Arial"/>
                <a:ea typeface="Arial"/>
                <a:cs typeface="Arial"/>
              </a:rPr>
              <a:t>Public list prices ≠ the final invoice. Assumed workloads ≠ measured usage.</a:t>
            </a:r>
          </a:p>
        </p:txBody>
      </p:sp>
      <p:sp>
        <p:nvSpPr>
          <p:cNvPr id="6" name="">
            <a:extLst xmlns:a="http://schemas.openxmlformats.org/drawingml/2006/main">
              <a:ext uri="{FF2B5EF4-FFF2-40B4-BE49-F238E27FC236}">
                <a16:creationId xmlns:a16="http://schemas.microsoft.com/office/drawing/2014/main" id="{081C699C-9836-4F52-B2F9-5FD6A12F44EC}"/>
              </a:ext>
            </a:extLst>
          </p:cNvPr>
          <p:cNvSpPr>
            <a:spLocks xmlns:a="http://schemas.openxmlformats.org/drawingml/2006/main" noGrp="1"/>
          </p:cNvSpPr>
          <p:nvPr/>
        </p:nvSpPr>
        <p:spPr>
          <a:xfrm xmlns:a="http://schemas.openxmlformats.org/drawingml/2006/main">
            <a:off x="628650" y="6029325"/>
            <a:ext cx="10896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ACB9CD"/>
                </a:solidFill>
                <a:latin typeface="Arial"/>
                <a:ea typeface="Arial"/>
                <a:cs typeface="Arial"/>
              </a:defRPr>
            </a:pPr>
            <a:r>
              <a:rPr sz="1575" b="0">
                <a:solidFill>
                  <a:srgbClr val="ACB9CD"/>
                </a:solidFill>
                <a:latin typeface="Arial"/>
                <a:ea typeface="Arial"/>
                <a:cs typeface="Arial"/>
              </a:rPr>
              <a:t>Missing: usage calibration, Azure SKU / contract and production identity-service quotes.</a:t>
            </a:r>
          </a:p>
        </p:txBody>
      </p:sp>
    </p:spTree>
    <p:extLst>
      <p:ext uri="{BB962C8B-B14F-4D97-AF65-F5344CB8AC3E}">
        <p14:creationId xmlns:p14="http://schemas.microsoft.com/office/powerpoint/2010/main" val="1978063241"/>
      </p:ext>
    </p:extLst>
  </p:cSld>
</p:sld>
</file>

<file path=ppt/slides/slide12.xml><?xml version="1.0" encoding="utf-8"?>
<p:sld xmlns:p="http://schemas.openxmlformats.org/presentationml/2006/main">
  <p:cSld>
    <p:bg>
      <p:bgPr>
        <a:solidFill xmlns:a="http://schemas.openxmlformats.org/drawingml/2006/main">
          <a:srgbClr val="10151E"/>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201BFF4-901A-41BE-8A0C-5195BB2437E9}"/>
              </a:ext>
            </a:extLst>
          </p:cNvPr>
          <p:cNvSpPr>
            <a:spLocks xmlns:a="http://schemas.openxmlformats.org/drawingml/2006/main" noGrp="1"/>
          </p:cNvSpPr>
          <p:nvPr/>
        </p:nvSpPr>
        <p:spPr>
          <a:xfrm xmlns:a="http://schemas.openxmlformats.org/drawingml/2006/main">
            <a:off x="609600" y="495300"/>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3F6FC"/>
                </a:solidFill>
                <a:latin typeface="Arial"/>
                <a:ea typeface="Arial"/>
                <a:cs typeface="Arial"/>
              </a:defRPr>
            </a:pPr>
            <a:r>
              <a:rPr sz="3600" b="1">
                <a:solidFill>
                  <a:srgbClr val="F3F6FC"/>
                </a:solidFill>
                <a:latin typeface="Arial"/>
                <a:ea typeface="Arial"/>
                <a:cs typeface="Arial"/>
              </a:rPr>
              <a:t>Live-demo runbook</a:t>
            </a:r>
          </a:p>
        </p:txBody>
      </p:sp>
      <p:sp>
        <p:nvSpPr>
          <p:cNvPr id="2" name="">
            <a:extLst xmlns:a="http://schemas.openxmlformats.org/drawingml/2006/main">
              <a:ext uri="{FF2B5EF4-FFF2-40B4-BE49-F238E27FC236}">
                <a16:creationId xmlns:a16="http://schemas.microsoft.com/office/drawing/2014/main" id="{47F91B34-AA51-4459-A3EB-DACCABD768AC}"/>
              </a:ext>
            </a:extLst>
          </p:cNvPr>
          <p:cNvSpPr>
            <a:spLocks xmlns:a="http://schemas.openxmlformats.org/drawingml/2006/main" noGrp="1"/>
          </p:cNvSpPr>
          <p:nvPr/>
        </p:nvSpPr>
        <p:spPr>
          <a:xfrm xmlns:a="http://schemas.openxmlformats.org/drawingml/2006/main">
            <a:off x="628650" y="1333500"/>
            <a:ext cx="10896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CB9CD"/>
                </a:solidFill>
                <a:latin typeface="Arial"/>
                <a:ea typeface="Arial"/>
                <a:cs typeface="Arial"/>
              </a:defRPr>
            </a:pPr>
            <a:r>
              <a:rPr sz="1875" b="0">
                <a:solidFill>
                  <a:srgbClr val="ACB9CD"/>
                </a:solidFill>
                <a:latin typeface="Arial"/>
                <a:ea typeface="Arial"/>
                <a:cs typeface="Arial"/>
              </a:rPr>
              <a:t>Five-minute core + seven-minute walkthrough leaves a three-minute buffer.</a:t>
            </a:r>
          </a:p>
        </p:txBody>
      </p:sp>
      <p:sp>
        <p:nvSpPr>
          <p:cNvPr id="3" name="">
            <a:extLst xmlns:a="http://schemas.openxmlformats.org/drawingml/2006/main">
              <a:ext uri="{FF2B5EF4-FFF2-40B4-BE49-F238E27FC236}">
                <a16:creationId xmlns:a16="http://schemas.microsoft.com/office/drawing/2014/main" id="{BC3534A2-F256-48BA-82DD-E815784C882D}"/>
              </a:ext>
            </a:extLst>
          </p:cNvPr>
          <p:cNvSpPr>
            <a:spLocks xmlns:a="http://schemas.openxmlformats.org/drawingml/2006/main" noGrp="1"/>
          </p:cNvSpPr>
          <p:nvPr/>
        </p:nvSpPr>
        <p:spPr>
          <a:xfrm xmlns:a="http://schemas.openxmlformats.org/drawingml/2006/main">
            <a:off x="62865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CB9CD"/>
                </a:solidFill>
                <a:latin typeface="Arial"/>
                <a:ea typeface="Arial"/>
                <a:cs typeface="Arial"/>
              </a:defRPr>
            </a:pPr>
            <a:r>
              <a:rPr sz="1200" b="0">
                <a:solidFill>
                  <a:srgbClr val="ACB9CD"/>
                </a:solidFill>
                <a:latin typeface="Arial"/>
                <a:ea typeface="Arial"/>
                <a:cs typeface="Arial"/>
              </a:rPr>
              <a:t>STORYBOARD REVIEW · 12</a:t>
            </a:r>
          </a:p>
        </p:txBody>
      </p:sp>
      <p:sp>
        <p:nvSpPr>
          <p:cNvPr id="4" name="">
            <a:extLst xmlns:a="http://schemas.openxmlformats.org/drawingml/2006/main">
              <a:ext uri="{FF2B5EF4-FFF2-40B4-BE49-F238E27FC236}">
                <a16:creationId xmlns:a16="http://schemas.microsoft.com/office/drawing/2014/main" id="{D676B768-F671-41F6-835D-8689D3C5D902}"/>
              </a:ext>
            </a:extLst>
          </p:cNvPr>
          <p:cNvSpPr>
            <a:spLocks xmlns:a="http://schemas.openxmlformats.org/drawingml/2006/main" noGrp="1"/>
          </p:cNvSpPr>
          <p:nvPr/>
        </p:nvSpPr>
        <p:spPr>
          <a:xfrm xmlns:a="http://schemas.openxmlformats.org/drawingml/2006/main">
            <a:off x="638175" y="2200275"/>
            <a:ext cx="2428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91BAFF"/>
                </a:solidFill>
                <a:latin typeface="Arial"/>
                <a:ea typeface="Arial"/>
                <a:cs typeface="Arial"/>
              </a:defRPr>
            </a:pPr>
            <a:r>
              <a:rPr sz="1950" b="1">
                <a:solidFill>
                  <a:srgbClr val="91BAFF"/>
                </a:solidFill>
                <a:latin typeface="Arial"/>
                <a:ea typeface="Arial"/>
                <a:cs typeface="Arial"/>
              </a:rPr>
              <a:t>Before the stage</a:t>
            </a:r>
          </a:p>
        </p:txBody>
      </p:sp>
      <p:sp>
        <p:nvSpPr>
          <p:cNvPr id="5" name="">
            <a:extLst xmlns:a="http://schemas.openxmlformats.org/drawingml/2006/main">
              <a:ext uri="{FF2B5EF4-FFF2-40B4-BE49-F238E27FC236}">
                <a16:creationId xmlns:a16="http://schemas.microsoft.com/office/drawing/2014/main" id="{06C4F607-F68A-42C3-BD0C-0517B60E3980}"/>
              </a:ext>
            </a:extLst>
          </p:cNvPr>
          <p:cNvSpPr>
            <a:spLocks xmlns:a="http://schemas.openxmlformats.org/drawingml/2006/main" noGrp="1"/>
          </p:cNvSpPr>
          <p:nvPr/>
        </p:nvSpPr>
        <p:spPr>
          <a:xfrm xmlns:a="http://schemas.openxmlformats.org/drawingml/2006/main">
            <a:off x="3190875" y="2200275"/>
            <a:ext cx="8305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6FC"/>
                </a:solidFill>
                <a:latin typeface="Arial"/>
                <a:ea typeface="Arial"/>
                <a:cs typeface="Arial"/>
              </a:defRPr>
            </a:pPr>
            <a:r>
              <a:rPr sz="1875" b="0">
                <a:solidFill>
                  <a:srgbClr val="F3F6FC"/>
                </a:solidFill>
                <a:latin typeface="Arial"/>
                <a:ea typeface="Arial"/>
                <a:cs typeface="Arial"/>
              </a:rPr>
              <a:t>Sample profile · one match · warm microphone · offline backup</a:t>
            </a:r>
          </a:p>
        </p:txBody>
      </p:sp>
      <p:sp>
        <p:nvSpPr>
          <p:cNvPr id="6" name="">
            <a:extLst xmlns:a="http://schemas.openxmlformats.org/drawingml/2006/main">
              <a:ext uri="{FF2B5EF4-FFF2-40B4-BE49-F238E27FC236}">
                <a16:creationId xmlns:a16="http://schemas.microsoft.com/office/drawing/2014/main" id="{108837DB-5525-4B4B-959C-E9F56C2B1635}"/>
              </a:ext>
            </a:extLst>
          </p:cNvPr>
          <p:cNvSpPr>
            <a:spLocks xmlns:a="http://schemas.openxmlformats.org/drawingml/2006/main" noGrp="1"/>
          </p:cNvSpPr>
          <p:nvPr/>
        </p:nvSpPr>
        <p:spPr>
          <a:xfrm xmlns:a="http://schemas.openxmlformats.org/drawingml/2006/main">
            <a:off x="638175" y="2800350"/>
            <a:ext cx="10848975" cy="9525"/>
          </a:xfrm>
          <a:prstGeom xmlns:a="http://schemas.openxmlformats.org/drawingml/2006/main" prst="rect">
            <a:avLst/>
          </a:prstGeom>
          <a:solidFill xmlns:a="http://schemas.openxmlformats.org/drawingml/2006/main">
            <a:srgbClr val="334257"/>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469F173-07A5-4EBE-8D42-A99412BD0DD7}"/>
              </a:ext>
            </a:extLst>
          </p:cNvPr>
          <p:cNvSpPr>
            <a:spLocks xmlns:a="http://schemas.openxmlformats.org/drawingml/2006/main" noGrp="1"/>
          </p:cNvSpPr>
          <p:nvPr/>
        </p:nvSpPr>
        <p:spPr>
          <a:xfrm xmlns:a="http://schemas.openxmlformats.org/drawingml/2006/main">
            <a:off x="638175" y="2943225"/>
            <a:ext cx="2428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91BAFF"/>
                </a:solidFill>
                <a:latin typeface="Arial"/>
                <a:ea typeface="Arial"/>
                <a:cs typeface="Arial"/>
              </a:defRPr>
            </a:pPr>
            <a:r>
              <a:rPr sz="1950" b="1">
                <a:solidFill>
                  <a:srgbClr val="91BAFF"/>
                </a:solidFill>
                <a:latin typeface="Arial"/>
                <a:ea typeface="Arial"/>
                <a:cs typeface="Arial"/>
              </a:rPr>
              <a:t>Opening</a:t>
            </a:r>
          </a:p>
        </p:txBody>
      </p:sp>
      <p:sp>
        <p:nvSpPr>
          <p:cNvPr id="8" name="">
            <a:extLst xmlns:a="http://schemas.openxmlformats.org/drawingml/2006/main">
              <a:ext uri="{FF2B5EF4-FFF2-40B4-BE49-F238E27FC236}">
                <a16:creationId xmlns:a16="http://schemas.microsoft.com/office/drawing/2014/main" id="{428112DA-C306-436A-B73B-D7B435EADA08}"/>
              </a:ext>
            </a:extLst>
          </p:cNvPr>
          <p:cNvSpPr>
            <a:spLocks xmlns:a="http://schemas.openxmlformats.org/drawingml/2006/main" noGrp="1"/>
          </p:cNvSpPr>
          <p:nvPr/>
        </p:nvSpPr>
        <p:spPr>
          <a:xfrm xmlns:a="http://schemas.openxmlformats.org/drawingml/2006/main">
            <a:off x="3190875" y="2943225"/>
            <a:ext cx="8305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6FC"/>
                </a:solidFill>
                <a:latin typeface="Arial"/>
                <a:ea typeface="Arial"/>
                <a:cs typeface="Arial"/>
              </a:defRPr>
            </a:pPr>
            <a:r>
              <a:rPr sz="1875" b="0">
                <a:solidFill>
                  <a:srgbClr val="F3F6FC"/>
                </a:solidFill>
                <a:latin typeface="Arial"/>
                <a:ea typeface="Arial"/>
                <a:cs typeface="Arial"/>
              </a:rPr>
              <a:t>Human: “Change that to five.” Hold for the actual result.</a:t>
            </a:r>
          </a:p>
        </p:txBody>
      </p:sp>
      <p:sp>
        <p:nvSpPr>
          <p:cNvPr id="9" name="">
            <a:extLst xmlns:a="http://schemas.openxmlformats.org/drawingml/2006/main">
              <a:ext uri="{FF2B5EF4-FFF2-40B4-BE49-F238E27FC236}">
                <a16:creationId xmlns:a16="http://schemas.microsoft.com/office/drawing/2014/main" id="{0F855E8A-FBB0-4C4C-B432-D5AD3C75D0B9}"/>
              </a:ext>
            </a:extLst>
          </p:cNvPr>
          <p:cNvSpPr>
            <a:spLocks xmlns:a="http://schemas.openxmlformats.org/drawingml/2006/main" noGrp="1"/>
          </p:cNvSpPr>
          <p:nvPr/>
        </p:nvSpPr>
        <p:spPr>
          <a:xfrm xmlns:a="http://schemas.openxmlformats.org/drawingml/2006/main">
            <a:off x="638175" y="3543300"/>
            <a:ext cx="10848975" cy="9525"/>
          </a:xfrm>
          <a:prstGeom xmlns:a="http://schemas.openxmlformats.org/drawingml/2006/main" prst="rect">
            <a:avLst/>
          </a:prstGeom>
          <a:solidFill xmlns:a="http://schemas.openxmlformats.org/drawingml/2006/main">
            <a:srgbClr val="334257"/>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82F58AB-4EF8-4D94-B8CB-0574F48CFCD7}"/>
              </a:ext>
            </a:extLst>
          </p:cNvPr>
          <p:cNvSpPr>
            <a:spLocks xmlns:a="http://schemas.openxmlformats.org/drawingml/2006/main" noGrp="1"/>
          </p:cNvSpPr>
          <p:nvPr/>
        </p:nvSpPr>
        <p:spPr>
          <a:xfrm xmlns:a="http://schemas.openxmlformats.org/drawingml/2006/main">
            <a:off x="638175" y="3686175"/>
            <a:ext cx="2428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91BAFF"/>
                </a:solidFill>
                <a:latin typeface="Arial"/>
                <a:ea typeface="Arial"/>
                <a:cs typeface="Arial"/>
              </a:defRPr>
            </a:pPr>
            <a:r>
              <a:rPr sz="1950" b="1">
                <a:solidFill>
                  <a:srgbClr val="91BAFF"/>
                </a:solidFill>
                <a:latin typeface="Arial"/>
                <a:ea typeface="Arial"/>
                <a:cs typeface="Arial"/>
              </a:rPr>
              <a:t>Fallback</a:t>
            </a:r>
          </a:p>
        </p:txBody>
      </p:sp>
      <p:sp>
        <p:nvSpPr>
          <p:cNvPr id="11" name="">
            <a:extLst xmlns:a="http://schemas.openxmlformats.org/drawingml/2006/main">
              <a:ext uri="{FF2B5EF4-FFF2-40B4-BE49-F238E27FC236}">
                <a16:creationId xmlns:a16="http://schemas.microsoft.com/office/drawing/2014/main" id="{0A08F2E9-643D-4D35-BB6A-1285429E0740}"/>
              </a:ext>
            </a:extLst>
          </p:cNvPr>
          <p:cNvSpPr>
            <a:spLocks xmlns:a="http://schemas.openxmlformats.org/drawingml/2006/main" noGrp="1"/>
          </p:cNvSpPr>
          <p:nvPr/>
        </p:nvSpPr>
        <p:spPr>
          <a:xfrm xmlns:a="http://schemas.openxmlformats.org/drawingml/2006/main">
            <a:off x="3190875" y="3686175"/>
            <a:ext cx="8305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6FC"/>
                </a:solidFill>
                <a:latin typeface="Arial"/>
                <a:ea typeface="Arial"/>
                <a:cs typeface="Arial"/>
              </a:defRPr>
            </a:pPr>
            <a:r>
              <a:rPr sz="1875" b="0">
                <a:solidFill>
                  <a:srgbClr val="F3F6FC"/>
                </a:solidFill>
                <a:latin typeface="Arial"/>
                <a:ea typeface="Arial"/>
                <a:cs typeface="Arial"/>
              </a:rPr>
              <a:t>After 8 seconds without a result, announce the recording.</a:t>
            </a:r>
          </a:p>
        </p:txBody>
      </p:sp>
      <p:sp>
        <p:nvSpPr>
          <p:cNvPr id="12" name="">
            <a:extLst xmlns:a="http://schemas.openxmlformats.org/drawingml/2006/main">
              <a:ext uri="{FF2B5EF4-FFF2-40B4-BE49-F238E27FC236}">
                <a16:creationId xmlns:a16="http://schemas.microsoft.com/office/drawing/2014/main" id="{B674BDDE-B8FA-45CB-B1FA-4C79FE049ADD}"/>
              </a:ext>
            </a:extLst>
          </p:cNvPr>
          <p:cNvSpPr>
            <a:spLocks xmlns:a="http://schemas.openxmlformats.org/drawingml/2006/main" noGrp="1"/>
          </p:cNvSpPr>
          <p:nvPr/>
        </p:nvSpPr>
        <p:spPr>
          <a:xfrm xmlns:a="http://schemas.openxmlformats.org/drawingml/2006/main">
            <a:off x="638175" y="4286250"/>
            <a:ext cx="10848975" cy="9525"/>
          </a:xfrm>
          <a:prstGeom xmlns:a="http://schemas.openxmlformats.org/drawingml/2006/main" prst="rect">
            <a:avLst/>
          </a:prstGeom>
          <a:solidFill xmlns:a="http://schemas.openxmlformats.org/drawingml/2006/main">
            <a:srgbClr val="33425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C5174CB-8708-4F07-97FE-8BF0CC27F74A}"/>
              </a:ext>
            </a:extLst>
          </p:cNvPr>
          <p:cNvSpPr>
            <a:spLocks xmlns:a="http://schemas.openxmlformats.org/drawingml/2006/main" noGrp="1"/>
          </p:cNvSpPr>
          <p:nvPr/>
        </p:nvSpPr>
        <p:spPr>
          <a:xfrm xmlns:a="http://schemas.openxmlformats.org/drawingml/2006/main">
            <a:off x="638175" y="4429125"/>
            <a:ext cx="2428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91BAFF"/>
                </a:solidFill>
                <a:latin typeface="Arial"/>
                <a:ea typeface="Arial"/>
                <a:cs typeface="Arial"/>
              </a:defRPr>
            </a:pPr>
            <a:r>
              <a:rPr sz="1950" b="1">
                <a:solidFill>
                  <a:srgbClr val="91BAFF"/>
                </a:solidFill>
                <a:latin typeface="Arial"/>
                <a:ea typeface="Arial"/>
                <a:cs typeface="Arial"/>
              </a:rPr>
              <a:t>Walkthrough</a:t>
            </a:r>
          </a:p>
        </p:txBody>
      </p:sp>
      <p:sp>
        <p:nvSpPr>
          <p:cNvPr id="14" name="">
            <a:extLst xmlns:a="http://schemas.openxmlformats.org/drawingml/2006/main">
              <a:ext uri="{FF2B5EF4-FFF2-40B4-BE49-F238E27FC236}">
                <a16:creationId xmlns:a16="http://schemas.microsoft.com/office/drawing/2014/main" id="{FFBD271F-CA29-4D52-9D37-B9CD819D4ABE}"/>
              </a:ext>
            </a:extLst>
          </p:cNvPr>
          <p:cNvSpPr>
            <a:spLocks xmlns:a="http://schemas.openxmlformats.org/drawingml/2006/main" noGrp="1"/>
          </p:cNvSpPr>
          <p:nvPr/>
        </p:nvSpPr>
        <p:spPr>
          <a:xfrm xmlns:a="http://schemas.openxmlformats.org/drawingml/2006/main">
            <a:off x="3190875" y="4429125"/>
            <a:ext cx="8305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6FC"/>
                </a:solidFill>
                <a:latin typeface="Arial"/>
                <a:ea typeface="Arial"/>
                <a:cs typeface="Arial"/>
              </a:defRPr>
            </a:pPr>
            <a:r>
              <a:rPr sz="1875" b="0">
                <a:solidFill>
                  <a:srgbClr val="F3F6FC"/>
                </a:solidFill>
                <a:latin typeface="Arial"/>
                <a:ea typeface="Arial"/>
                <a:cs typeface="Arial"/>
              </a:rPr>
              <a:t>Research → voice → review → confirm → native surfaces</a:t>
            </a:r>
          </a:p>
        </p:txBody>
      </p:sp>
      <p:sp>
        <p:nvSpPr>
          <p:cNvPr id="15" name="">
            <a:extLst xmlns:a="http://schemas.openxmlformats.org/drawingml/2006/main">
              <a:ext uri="{FF2B5EF4-FFF2-40B4-BE49-F238E27FC236}">
                <a16:creationId xmlns:a16="http://schemas.microsoft.com/office/drawing/2014/main" id="{15769B38-300B-4B23-8352-87E2A20837DD}"/>
              </a:ext>
            </a:extLst>
          </p:cNvPr>
          <p:cNvSpPr>
            <a:spLocks xmlns:a="http://schemas.openxmlformats.org/drawingml/2006/main" noGrp="1"/>
          </p:cNvSpPr>
          <p:nvPr/>
        </p:nvSpPr>
        <p:spPr>
          <a:xfrm xmlns:a="http://schemas.openxmlformats.org/drawingml/2006/main">
            <a:off x="638175" y="5029200"/>
            <a:ext cx="10848975" cy="9525"/>
          </a:xfrm>
          <a:prstGeom xmlns:a="http://schemas.openxmlformats.org/drawingml/2006/main" prst="rect">
            <a:avLst/>
          </a:prstGeom>
          <a:solidFill xmlns:a="http://schemas.openxmlformats.org/drawingml/2006/main">
            <a:srgbClr val="334257"/>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1E4D601-E3F3-4422-9CD8-F990FC1C833D}"/>
              </a:ext>
            </a:extLst>
          </p:cNvPr>
          <p:cNvSpPr>
            <a:spLocks xmlns:a="http://schemas.openxmlformats.org/drawingml/2006/main" noGrp="1"/>
          </p:cNvSpPr>
          <p:nvPr/>
        </p:nvSpPr>
        <p:spPr>
          <a:xfrm xmlns:a="http://schemas.openxmlformats.org/drawingml/2006/main">
            <a:off x="638175" y="5172075"/>
            <a:ext cx="2428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91BAFF"/>
                </a:solidFill>
                <a:latin typeface="Arial"/>
                <a:ea typeface="Arial"/>
                <a:cs typeface="Arial"/>
              </a:defRPr>
            </a:pPr>
            <a:r>
              <a:rPr sz="1950" b="1">
                <a:solidFill>
                  <a:srgbClr val="91BAFF"/>
                </a:solidFill>
                <a:latin typeface="Arial"/>
                <a:ea typeface="Arial"/>
                <a:cs typeface="Arial"/>
              </a:rPr>
              <a:t>Acceptance</a:t>
            </a:r>
          </a:p>
        </p:txBody>
      </p:sp>
      <p:sp>
        <p:nvSpPr>
          <p:cNvPr id="17" name="">
            <a:extLst xmlns:a="http://schemas.openxmlformats.org/drawingml/2006/main">
              <a:ext uri="{FF2B5EF4-FFF2-40B4-BE49-F238E27FC236}">
                <a16:creationId xmlns:a16="http://schemas.microsoft.com/office/drawing/2014/main" id="{AE6CC02A-0C47-458C-BC03-FFB48FE58677}"/>
              </a:ext>
            </a:extLst>
          </p:cNvPr>
          <p:cNvSpPr>
            <a:spLocks xmlns:a="http://schemas.openxmlformats.org/drawingml/2006/main" noGrp="1"/>
          </p:cNvSpPr>
          <p:nvPr/>
        </p:nvSpPr>
        <p:spPr>
          <a:xfrm xmlns:a="http://schemas.openxmlformats.org/drawingml/2006/main">
            <a:off x="3190875" y="5172075"/>
            <a:ext cx="8305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6FC"/>
                </a:solidFill>
                <a:latin typeface="Arial"/>
                <a:ea typeface="Arial"/>
                <a:cs typeface="Arial"/>
              </a:defRPr>
            </a:pPr>
            <a:r>
              <a:rPr sz="1875" b="0">
                <a:solidFill>
                  <a:srgbClr val="F3F6FC"/>
                </a:solidFill>
                <a:latin typeface="Arial"/>
                <a:ea typeface="Arial"/>
                <a:cs typeface="Arial"/>
              </a:rPr>
              <a:t>3 human runs · matching receipts · native QA · PowerPoint</a:t>
            </a:r>
          </a:p>
        </p:txBody>
      </p:sp>
    </p:spTree>
    <p:extLst>
      <p:ext uri="{BB962C8B-B14F-4D97-AF65-F5344CB8AC3E}">
        <p14:creationId xmlns:p14="http://schemas.microsoft.com/office/powerpoint/2010/main" val="13239130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2026-09-09T05:35:17.1050000Z</dcterms:created>
  <dcterms:modified xsi:type="dcterms:W3CDTF">2026-09-09T05:35:17.1050000Z</dcterms:modified>
</coreProperties>
</file>